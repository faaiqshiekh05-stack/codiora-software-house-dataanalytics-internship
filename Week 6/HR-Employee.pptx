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alibri" panose="020F0502020204030204" pitchFamily="34" charset="0"/>
      <p:regular r:id="rId13"/>
      <p:bold r:id="rId14"/>
      <p:italic r:id="rId15"/>
      <p:boldItalic r:id="rId16"/>
    </p:embeddedFont>
    <p:embeddedFont>
      <p:font typeface="Inter Bold" panose="020B0604020202020204" charset="0"/>
      <p:regular r:id="rId17"/>
    </p:embeddedFont>
    <p:embeddedFont>
      <p:font typeface="Inter"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306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FFFFF">
              <a:alpha val="85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4.svg"/><Relationship Id="rId11"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4.svg"/><Relationship Id="rId11" Type="http://schemas.openxmlformats.org/officeDocument/2006/relationships/image" Target="../media/image3.png"/><Relationship Id="rId5" Type="http://schemas.openxmlformats.org/officeDocument/2006/relationships/image" Target="../media/image15.png"/><Relationship Id="rId10" Type="http://schemas.openxmlformats.org/officeDocument/2006/relationships/image" Target="../media/image-9-8.svg"/><Relationship Id="rId4" Type="http://schemas.openxmlformats.org/officeDocument/2006/relationships/image" Target="../media/image-9-2.sv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028502"/>
            <a:ext cx="11478330"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3" name="Text 1"/>
          <p:cNvSpPr/>
          <p:nvPr/>
        </p:nvSpPr>
        <p:spPr>
          <a:xfrm>
            <a:off x="661475" y="1519932"/>
            <a:ext cx="10868745" cy="1181398"/>
          </a:xfrm>
          <a:prstGeom prst="rect">
            <a:avLst/>
          </a:prstGeom>
          <a:noFill/>
          <a:ln/>
        </p:spPr>
        <p:txBody>
          <a:bodyPr wrap="none" lIns="0" tIns="0" rIns="0" bIns="0" rtlCol="0" anchor="t"/>
          <a:lstStyle/>
          <a:p>
            <a:pPr marL="0" indent="0" algn="ctr">
              <a:lnSpc>
                <a:spcPct val="104000"/>
              </a:lnSpc>
              <a:buNone/>
            </a:pPr>
            <a:r>
              <a:rPr lang="en-US" sz="7400" b="1" dirty="0">
                <a:solidFill>
                  <a:srgbClr val="000000"/>
                </a:solidFill>
                <a:latin typeface="Inter Bold" pitchFamily="34" charset="0"/>
                <a:ea typeface="Inter Bold" pitchFamily="34" charset="-122"/>
                <a:cs typeface="Inter Bold" pitchFamily="34" charset="-120"/>
              </a:rPr>
              <a:t>HR Employee</a:t>
            </a:r>
            <a:endParaRPr lang="en-US" sz="7400" dirty="0"/>
          </a:p>
        </p:txBody>
      </p:sp>
      <p:sp>
        <p:nvSpPr>
          <p:cNvPr id="4" name="Text 2"/>
          <p:cNvSpPr/>
          <p:nvPr/>
        </p:nvSpPr>
        <p:spPr>
          <a:xfrm>
            <a:off x="661475" y="2984798"/>
            <a:ext cx="10868745" cy="1181398"/>
          </a:xfrm>
          <a:prstGeom prst="rect">
            <a:avLst/>
          </a:prstGeom>
          <a:noFill/>
          <a:ln/>
        </p:spPr>
        <p:txBody>
          <a:bodyPr wrap="none" lIns="0" tIns="0" rIns="0" bIns="0" rtlCol="0" anchor="t"/>
          <a:lstStyle/>
          <a:p>
            <a:pPr marL="0" indent="0" algn="ctr">
              <a:lnSpc>
                <a:spcPct val="104000"/>
              </a:lnSpc>
              <a:buNone/>
            </a:pPr>
            <a:r>
              <a:rPr lang="en-US" sz="7400" b="1" dirty="0">
                <a:solidFill>
                  <a:srgbClr val="000000"/>
                </a:solidFill>
                <a:latin typeface="Inter Bold" pitchFamily="34" charset="0"/>
                <a:ea typeface="Inter Bold" pitchFamily="34" charset="-122"/>
                <a:cs typeface="Inter Bold" pitchFamily="34" charset="-120"/>
              </a:rPr>
              <a:t>Attrition Analysis</a:t>
            </a:r>
            <a:endParaRPr lang="en-US" sz="7400" dirty="0"/>
          </a:p>
        </p:txBody>
      </p:sp>
      <p:sp>
        <p:nvSpPr>
          <p:cNvPr id="5" name="Text 3"/>
          <p:cNvSpPr/>
          <p:nvPr/>
        </p:nvSpPr>
        <p:spPr>
          <a:xfrm>
            <a:off x="356682" y="4449663"/>
            <a:ext cx="11478330" cy="302419"/>
          </a:xfrm>
          <a:prstGeom prst="rect">
            <a:avLst/>
          </a:prstGeom>
          <a:noFill/>
          <a:ln/>
        </p:spPr>
        <p:txBody>
          <a:bodyPr wrap="none" lIns="0" tIns="0" rIns="0" bIns="0" rtlCol="0" anchor="t"/>
          <a:lstStyle/>
          <a:p>
            <a:pPr marL="0" indent="0" algn="ctr">
              <a:lnSpc>
                <a:spcPct val="133000"/>
              </a:lnSpc>
              <a:buNone/>
            </a:pPr>
            <a:r>
              <a:rPr lang="en-US" sz="1450" b="1" dirty="0">
                <a:solidFill>
                  <a:srgbClr val="272525"/>
                </a:solidFill>
                <a:latin typeface="Inter Bold" pitchFamily="34" charset="0"/>
                <a:ea typeface="Inter Bold" pitchFamily="34" charset="-122"/>
                <a:cs typeface="Inter Bold" pitchFamily="34" charset="-120"/>
              </a:rPr>
              <a:t>Final Business Intelligence Dashboard &amp; Executive Reporting</a:t>
            </a:r>
            <a:endParaRPr lang="en-US" sz="1450" dirty="0"/>
          </a:p>
        </p:txBody>
      </p:sp>
      <p:pic>
        <p:nvPicPr>
          <p:cNvPr id="6" name="Image 0" descr="preencoded.png"/>
          <p:cNvPicPr>
            <a:picLocks noChangeAspect="1"/>
          </p:cNvPicPr>
          <p:nvPr/>
        </p:nvPicPr>
        <p:blipFill>
          <a:blip r:embed="rId3"/>
          <a:stretch>
            <a:fillRect/>
          </a:stretch>
        </p:blipFill>
        <p:spPr>
          <a:xfrm>
            <a:off x="3914479" y="4964708"/>
            <a:ext cx="1593711" cy="519807"/>
          </a:xfrm>
          <a:prstGeom prst="rect">
            <a:avLst/>
          </a:prstGeom>
        </p:spPr>
      </p:pic>
      <p:pic>
        <p:nvPicPr>
          <p:cNvPr id="7" name="Image 1" descr="preencoded.png"/>
          <p:cNvPicPr>
            <a:picLocks noChangeAspect="1"/>
          </p:cNvPicPr>
          <p:nvPr/>
        </p:nvPicPr>
        <p:blipFill>
          <a:blip r:embed="rId4"/>
          <a:stretch>
            <a:fillRect/>
          </a:stretch>
        </p:blipFill>
        <p:spPr>
          <a:xfrm>
            <a:off x="5602643" y="4964708"/>
            <a:ext cx="2674573" cy="519807"/>
          </a:xfrm>
          <a:prstGeom prst="rect">
            <a:avLst/>
          </a:prstGeom>
        </p:spPr>
      </p:pic>
      <p:sp>
        <p:nvSpPr>
          <p:cNvPr id="8" name="Text 4"/>
          <p:cNvSpPr/>
          <p:nvPr/>
        </p:nvSpPr>
        <p:spPr>
          <a:xfrm>
            <a:off x="356682" y="5697141"/>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272525"/>
                </a:solidFill>
                <a:latin typeface="Inter" pitchFamily="34" charset="0"/>
                <a:ea typeface="Inter" pitchFamily="34" charset="-122"/>
                <a:cs typeface="Inter" pitchFamily="34" charset="-120"/>
              </a:rPr>
              <a:t>Power BI | SQL | Python | Excel | Pandas</a:t>
            </a:r>
            <a:endParaRPr lang="en-US" sz="1450" dirty="0"/>
          </a:p>
        </p:txBody>
      </p:sp>
      <p:pic>
        <p:nvPicPr>
          <p:cNvPr id="11" name="Image 0" descr="preencoded.png"/>
          <p:cNvPicPr>
            <a:picLocks noChangeAspect="1"/>
          </p:cNvPicPr>
          <p:nvPr/>
        </p:nvPicPr>
        <p:blipFill>
          <a:blip r:embed="rId3"/>
          <a:stretch>
            <a:fillRect/>
          </a:stretch>
        </p:blipFill>
        <p:spPr>
          <a:xfrm>
            <a:off x="11043461" y="6468145"/>
            <a:ext cx="1096344" cy="3575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06326"/>
            <a:ext cx="705924" cy="258465"/>
          </a:xfrm>
          <a:prstGeom prst="roundRect">
            <a:avLst>
              <a:gd name="adj" fmla="val 22115"/>
            </a:avLst>
          </a:prstGeom>
          <a:noFill/>
          <a:ln w="6350">
            <a:solidFill>
              <a:srgbClr val="4950BC"/>
            </a:solidFill>
            <a:prstDash val="solid"/>
          </a:ln>
        </p:spPr>
      </p:sp>
      <p:sp>
        <p:nvSpPr>
          <p:cNvPr id="3" name="Text 1"/>
          <p:cNvSpPr/>
          <p:nvPr/>
        </p:nvSpPr>
        <p:spPr>
          <a:xfrm>
            <a:off x="763469" y="657324"/>
            <a:ext cx="1111520" cy="156468"/>
          </a:xfrm>
          <a:prstGeom prst="rect">
            <a:avLst/>
          </a:prstGeom>
          <a:noFill/>
          <a:ln/>
        </p:spPr>
        <p:txBody>
          <a:bodyPr wrap="none" lIns="0" tIns="0" rIns="0" bIns="0" rtlCol="0" anchor="t"/>
          <a:lstStyle/>
          <a:p>
            <a:pPr marL="0" indent="0" algn="l">
              <a:lnSpc>
                <a:spcPct val="96000"/>
              </a:lnSpc>
              <a:buNone/>
            </a:pPr>
            <a:r>
              <a:rPr lang="en-US" sz="1050" dirty="0">
                <a:solidFill>
                  <a:srgbClr val="4950BC"/>
                </a:solidFill>
                <a:latin typeface="Inter" pitchFamily="34" charset="0"/>
                <a:ea typeface="Inter" pitchFamily="34" charset="-122"/>
                <a:cs typeface="Inter" pitchFamily="34" charset="-120"/>
              </a:rPr>
              <a:t>SLIDE 2</a:t>
            </a:r>
            <a:endParaRPr lang="en-US" sz="1050" dirty="0"/>
          </a:p>
        </p:txBody>
      </p:sp>
      <p:sp>
        <p:nvSpPr>
          <p:cNvPr id="4" name="Text 2"/>
          <p:cNvSpPr/>
          <p:nvPr/>
        </p:nvSpPr>
        <p:spPr>
          <a:xfrm>
            <a:off x="661475" y="926009"/>
            <a:ext cx="10868745" cy="531614"/>
          </a:xfrm>
          <a:prstGeom prst="rect">
            <a:avLst/>
          </a:prstGeom>
          <a:noFill/>
          <a:ln>
            <a:solidFill>
              <a:schemeClr val="bg1"/>
            </a:solidFill>
          </a:ln>
        </p:spPr>
        <p:txBody>
          <a:bodyPr wrap="none" lIns="0" tIns="0" rIns="0" bIns="0" rtlCol="0" anchor="t"/>
          <a:lstStyle/>
          <a:p>
            <a:pPr marL="0" indent="0" algn="l">
              <a:lnSpc>
                <a:spcPct val="104000"/>
              </a:lnSpc>
              <a:buNone/>
            </a:pPr>
            <a:r>
              <a:rPr lang="en-US" sz="3300" b="1" dirty="0">
                <a:solidFill>
                  <a:srgbClr val="000000"/>
                </a:solidFill>
                <a:latin typeface="Inter Bold" pitchFamily="34" charset="0"/>
                <a:ea typeface="Inter Bold" pitchFamily="34" charset="-122"/>
                <a:cs typeface="Inter Bold" pitchFamily="34" charset="-120"/>
              </a:rPr>
              <a:t>Project Objective</a:t>
            </a:r>
            <a:endParaRPr lang="en-US" sz="3300" dirty="0"/>
          </a:p>
        </p:txBody>
      </p:sp>
      <p:sp>
        <p:nvSpPr>
          <p:cNvPr id="5" name="Text 3"/>
          <p:cNvSpPr/>
          <p:nvPr/>
        </p:nvSpPr>
        <p:spPr>
          <a:xfrm>
            <a:off x="661475" y="1687215"/>
            <a:ext cx="10868745"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The objective of this project is to analyze employee attrition using HR data and develop an interactive Business Intelligence dashboard that helps organizations monitor workforce trends, identify factors influencing employee turnover, and support data-driven decision-making.</a:t>
            </a:r>
            <a:endParaRPr lang="en-US" sz="1300" dirty="0"/>
          </a:p>
        </p:txBody>
      </p:sp>
      <p:sp>
        <p:nvSpPr>
          <p:cNvPr id="6" name="Shape 4"/>
          <p:cNvSpPr/>
          <p:nvPr/>
        </p:nvSpPr>
        <p:spPr>
          <a:xfrm>
            <a:off x="788968" y="2635151"/>
            <a:ext cx="19050" cy="3616523"/>
          </a:xfrm>
          <a:prstGeom prst="roundRect">
            <a:avLst>
              <a:gd name="adj" fmla="val 375060"/>
            </a:avLst>
          </a:prstGeom>
          <a:solidFill>
            <a:srgbClr val="C0C1D7"/>
          </a:solidFill>
          <a:ln/>
        </p:spPr>
      </p:sp>
      <p:sp>
        <p:nvSpPr>
          <p:cNvPr id="7" name="Shape 5"/>
          <p:cNvSpPr/>
          <p:nvPr/>
        </p:nvSpPr>
        <p:spPr>
          <a:xfrm>
            <a:off x="769918" y="2816920"/>
            <a:ext cx="340213" cy="19050"/>
          </a:xfrm>
          <a:prstGeom prst="roundRect">
            <a:avLst>
              <a:gd name="adj" fmla="val 375060"/>
            </a:avLst>
          </a:prstGeom>
          <a:solidFill>
            <a:srgbClr val="C0C1D7"/>
          </a:solidFill>
          <a:ln/>
        </p:spPr>
      </p:sp>
      <p:sp>
        <p:nvSpPr>
          <p:cNvPr id="8" name="Shape 6"/>
          <p:cNvSpPr/>
          <p:nvPr/>
        </p:nvSpPr>
        <p:spPr>
          <a:xfrm>
            <a:off x="725221" y="2762696"/>
            <a:ext cx="127493" cy="127496"/>
          </a:xfrm>
          <a:prstGeom prst="ellipse">
            <a:avLst/>
          </a:prstGeom>
          <a:solidFill>
            <a:srgbClr val="4950BC"/>
          </a:solidFill>
          <a:ln/>
        </p:spPr>
      </p:sp>
      <p:sp>
        <p:nvSpPr>
          <p:cNvPr id="9" name="Text 7"/>
          <p:cNvSpPr/>
          <p:nvPr/>
        </p:nvSpPr>
        <p:spPr>
          <a:xfrm>
            <a:off x="1469492" y="2693591"/>
            <a:ext cx="10060728"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Analyze Attrition Trends</a:t>
            </a:r>
            <a:endParaRPr lang="en-US" sz="1650" dirty="0"/>
          </a:p>
        </p:txBody>
      </p:sp>
      <p:sp>
        <p:nvSpPr>
          <p:cNvPr id="10" name="Text 8"/>
          <p:cNvSpPr/>
          <p:nvPr/>
        </p:nvSpPr>
        <p:spPr>
          <a:xfrm>
            <a:off x="1469492" y="3051076"/>
            <a:ext cx="10060728" cy="258564"/>
          </a:xfrm>
          <a:prstGeom prst="rect">
            <a:avLst/>
          </a:prstGeom>
          <a:noFill/>
          <a:ln/>
        </p:spPr>
        <p:txBody>
          <a:bodyPr wrap="none" lIns="0" tIns="0" rIns="0" bIns="0" rtlCol="0" anchor="t"/>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Understand patterns in employee attrition across departments, roles, and demographics.</a:t>
            </a:r>
            <a:endParaRPr lang="en-US" sz="1300" dirty="0"/>
          </a:p>
        </p:txBody>
      </p:sp>
      <p:sp>
        <p:nvSpPr>
          <p:cNvPr id="11" name="Shape 9"/>
          <p:cNvSpPr/>
          <p:nvPr/>
        </p:nvSpPr>
        <p:spPr>
          <a:xfrm>
            <a:off x="769918" y="3797598"/>
            <a:ext cx="340213" cy="19050"/>
          </a:xfrm>
          <a:prstGeom prst="roundRect">
            <a:avLst>
              <a:gd name="adj" fmla="val 375060"/>
            </a:avLst>
          </a:prstGeom>
          <a:solidFill>
            <a:srgbClr val="C0C1D7"/>
          </a:solidFill>
          <a:ln/>
        </p:spPr>
      </p:sp>
      <p:sp>
        <p:nvSpPr>
          <p:cNvPr id="12" name="Shape 10"/>
          <p:cNvSpPr/>
          <p:nvPr/>
        </p:nvSpPr>
        <p:spPr>
          <a:xfrm>
            <a:off x="725221" y="3743375"/>
            <a:ext cx="127493" cy="127496"/>
          </a:xfrm>
          <a:prstGeom prst="ellipse">
            <a:avLst/>
          </a:prstGeom>
          <a:solidFill>
            <a:srgbClr val="4950BC"/>
          </a:solidFill>
          <a:ln/>
        </p:spPr>
      </p:sp>
      <p:sp>
        <p:nvSpPr>
          <p:cNvPr id="13" name="Text 11"/>
          <p:cNvSpPr/>
          <p:nvPr/>
        </p:nvSpPr>
        <p:spPr>
          <a:xfrm>
            <a:off x="1469492" y="3674269"/>
            <a:ext cx="10060728"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Measure Workforce KPIs</a:t>
            </a:r>
            <a:endParaRPr lang="en-US" sz="1650" dirty="0"/>
          </a:p>
        </p:txBody>
      </p:sp>
      <p:sp>
        <p:nvSpPr>
          <p:cNvPr id="14" name="Text 12"/>
          <p:cNvSpPr/>
          <p:nvPr/>
        </p:nvSpPr>
        <p:spPr>
          <a:xfrm>
            <a:off x="1469492" y="4031754"/>
            <a:ext cx="10060728" cy="258564"/>
          </a:xfrm>
          <a:prstGeom prst="rect">
            <a:avLst/>
          </a:prstGeom>
          <a:noFill/>
          <a:ln/>
        </p:spPr>
        <p:txBody>
          <a:bodyPr wrap="none" lIns="0" tIns="0" rIns="0" bIns="0" rtlCol="0" anchor="t"/>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Track key performance indicators to evaluate overall workforce health and stability.</a:t>
            </a:r>
            <a:endParaRPr lang="en-US" sz="1300" dirty="0"/>
          </a:p>
        </p:txBody>
      </p:sp>
      <p:sp>
        <p:nvSpPr>
          <p:cNvPr id="15" name="Shape 13"/>
          <p:cNvSpPr/>
          <p:nvPr/>
        </p:nvSpPr>
        <p:spPr>
          <a:xfrm>
            <a:off x="769918" y="4778276"/>
            <a:ext cx="340213" cy="19050"/>
          </a:xfrm>
          <a:prstGeom prst="roundRect">
            <a:avLst>
              <a:gd name="adj" fmla="val 375060"/>
            </a:avLst>
          </a:prstGeom>
          <a:solidFill>
            <a:srgbClr val="C0C1D7"/>
          </a:solidFill>
          <a:ln/>
        </p:spPr>
      </p:sp>
      <p:sp>
        <p:nvSpPr>
          <p:cNvPr id="16" name="Shape 14"/>
          <p:cNvSpPr/>
          <p:nvPr/>
        </p:nvSpPr>
        <p:spPr>
          <a:xfrm>
            <a:off x="725221" y="4724053"/>
            <a:ext cx="127493" cy="127496"/>
          </a:xfrm>
          <a:prstGeom prst="ellipse">
            <a:avLst/>
          </a:prstGeom>
          <a:solidFill>
            <a:srgbClr val="4950BC"/>
          </a:solidFill>
          <a:ln/>
        </p:spPr>
      </p:sp>
      <p:sp>
        <p:nvSpPr>
          <p:cNvPr id="17" name="Text 15"/>
          <p:cNvSpPr/>
          <p:nvPr/>
        </p:nvSpPr>
        <p:spPr>
          <a:xfrm>
            <a:off x="1469492" y="4654947"/>
            <a:ext cx="10060728"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Identify High-Risk Areas</a:t>
            </a:r>
            <a:endParaRPr lang="en-US" sz="1650" dirty="0"/>
          </a:p>
        </p:txBody>
      </p:sp>
      <p:sp>
        <p:nvSpPr>
          <p:cNvPr id="18" name="Text 16"/>
          <p:cNvSpPr/>
          <p:nvPr/>
        </p:nvSpPr>
        <p:spPr>
          <a:xfrm>
            <a:off x="1469492" y="5012432"/>
            <a:ext cx="10060728" cy="258564"/>
          </a:xfrm>
          <a:prstGeom prst="rect">
            <a:avLst/>
          </a:prstGeom>
          <a:noFill/>
          <a:ln/>
        </p:spPr>
        <p:txBody>
          <a:bodyPr wrap="none" lIns="0" tIns="0" rIns="0" bIns="0" rtlCol="0" anchor="t"/>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Pinpoint departments and job roles with the highest likelihood of employee turnover.</a:t>
            </a:r>
            <a:endParaRPr lang="en-US" sz="1300" dirty="0"/>
          </a:p>
        </p:txBody>
      </p:sp>
      <p:sp>
        <p:nvSpPr>
          <p:cNvPr id="19" name="Shape 17"/>
          <p:cNvSpPr/>
          <p:nvPr/>
        </p:nvSpPr>
        <p:spPr>
          <a:xfrm>
            <a:off x="769918" y="5758954"/>
            <a:ext cx="340213" cy="19050"/>
          </a:xfrm>
          <a:prstGeom prst="roundRect">
            <a:avLst>
              <a:gd name="adj" fmla="val 375060"/>
            </a:avLst>
          </a:prstGeom>
          <a:solidFill>
            <a:srgbClr val="C0C1D7"/>
          </a:solidFill>
          <a:ln/>
        </p:spPr>
      </p:sp>
      <p:sp>
        <p:nvSpPr>
          <p:cNvPr id="20" name="Shape 18"/>
          <p:cNvSpPr/>
          <p:nvPr/>
        </p:nvSpPr>
        <p:spPr>
          <a:xfrm>
            <a:off x="725221" y="5704731"/>
            <a:ext cx="127493" cy="127496"/>
          </a:xfrm>
          <a:prstGeom prst="ellipse">
            <a:avLst/>
          </a:prstGeom>
          <a:solidFill>
            <a:srgbClr val="4950BC"/>
          </a:solidFill>
          <a:ln/>
        </p:spPr>
      </p:sp>
      <p:sp>
        <p:nvSpPr>
          <p:cNvPr id="21" name="Text 19"/>
          <p:cNvSpPr/>
          <p:nvPr/>
        </p:nvSpPr>
        <p:spPr>
          <a:xfrm>
            <a:off x="1469492" y="5635625"/>
            <a:ext cx="10060728"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Support HR Decision-Making</a:t>
            </a:r>
            <a:endParaRPr lang="en-US" sz="1650" dirty="0"/>
          </a:p>
        </p:txBody>
      </p:sp>
      <p:sp>
        <p:nvSpPr>
          <p:cNvPr id="22" name="Text 20"/>
          <p:cNvSpPr/>
          <p:nvPr/>
        </p:nvSpPr>
        <p:spPr>
          <a:xfrm>
            <a:off x="1469492" y="5993110"/>
            <a:ext cx="10060728" cy="258564"/>
          </a:xfrm>
          <a:prstGeom prst="rect">
            <a:avLst/>
          </a:prstGeom>
          <a:noFill/>
          <a:ln/>
        </p:spPr>
        <p:txBody>
          <a:bodyPr wrap="none" lIns="0" tIns="0" rIns="0" bIns="0" rtlCol="0" anchor="t"/>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Deliver actionable business insights to improve employee retention strategies.</a:t>
            </a:r>
            <a:endParaRPr lang="en-US" sz="1300" dirty="0"/>
          </a:p>
        </p:txBody>
      </p:sp>
      <p:sp>
        <p:nvSpPr>
          <p:cNvPr id="23" name="Rounded Rectangle 22"/>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24" name="Image 0" descr="preencoded.png"/>
          <p:cNvPicPr>
            <a:picLocks noChangeAspect="1"/>
          </p:cNvPicPr>
          <p:nvPr/>
        </p:nvPicPr>
        <p:blipFill>
          <a:blip r:embed="rId3"/>
          <a:stretch>
            <a:fillRect/>
          </a:stretch>
        </p:blipFill>
        <p:spPr>
          <a:xfrm>
            <a:off x="11055435" y="6468145"/>
            <a:ext cx="1136565" cy="3575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690265"/>
            <a:ext cx="628535" cy="229691"/>
          </a:xfrm>
          <a:prstGeom prst="roundRect">
            <a:avLst>
              <a:gd name="adj" fmla="val 22120"/>
            </a:avLst>
          </a:prstGeom>
          <a:noFill/>
          <a:ln w="6350">
            <a:solidFill>
              <a:srgbClr val="4950BC"/>
            </a:solidFill>
            <a:prstDash val="solid"/>
          </a:ln>
        </p:spPr>
      </p:sp>
      <p:sp>
        <p:nvSpPr>
          <p:cNvPr id="3" name="Text 1"/>
          <p:cNvSpPr/>
          <p:nvPr/>
        </p:nvSpPr>
        <p:spPr>
          <a:xfrm>
            <a:off x="752159" y="735608"/>
            <a:ext cx="1056752" cy="139005"/>
          </a:xfrm>
          <a:prstGeom prst="rect">
            <a:avLst/>
          </a:prstGeom>
          <a:noFill/>
          <a:ln/>
        </p:spPr>
        <p:txBody>
          <a:bodyPr wrap="none" lIns="0" tIns="0" rIns="0" bIns="0" rtlCol="0" anchor="t"/>
          <a:lstStyle/>
          <a:p>
            <a:pPr marL="0" indent="0" algn="l">
              <a:lnSpc>
                <a:spcPct val="96000"/>
              </a:lnSpc>
              <a:buNone/>
            </a:pPr>
            <a:r>
              <a:rPr lang="en-US" sz="950" dirty="0">
                <a:solidFill>
                  <a:srgbClr val="4950BC"/>
                </a:solidFill>
                <a:latin typeface="Inter" pitchFamily="34" charset="0"/>
                <a:ea typeface="Inter" pitchFamily="34" charset="-122"/>
                <a:cs typeface="Inter" pitchFamily="34" charset="-120"/>
              </a:rPr>
              <a:t>SLIDE 3</a:t>
            </a:r>
            <a:endParaRPr lang="en-US" sz="950" dirty="0"/>
          </a:p>
        </p:txBody>
      </p:sp>
      <p:sp>
        <p:nvSpPr>
          <p:cNvPr id="4" name="Text 2"/>
          <p:cNvSpPr/>
          <p:nvPr/>
        </p:nvSpPr>
        <p:spPr>
          <a:xfrm>
            <a:off x="661475" y="968276"/>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Dataset Overview</a:t>
            </a:r>
            <a:endParaRPr lang="en-US" sz="2950" dirty="0"/>
          </a:p>
        </p:txBody>
      </p:sp>
      <p:sp>
        <p:nvSpPr>
          <p:cNvPr id="5" name="Text 3"/>
          <p:cNvSpPr/>
          <p:nvPr/>
        </p:nvSpPr>
        <p:spPr>
          <a:xfrm>
            <a:off x="661475" y="1622127"/>
            <a:ext cx="11478330" cy="217686"/>
          </a:xfrm>
          <a:prstGeom prst="rect">
            <a:avLst/>
          </a:prstGeom>
          <a:noFill/>
          <a:ln/>
        </p:spPr>
        <p:txBody>
          <a:bodyPr wrap="none" lIns="0" tIns="0" rIns="0" bIns="0" rtlCol="0" anchor="t"/>
          <a:lstStyle/>
          <a:p>
            <a:pPr marL="0" indent="0" algn="l">
              <a:lnSpc>
                <a:spcPct val="120000"/>
              </a:lnSpc>
              <a:buNone/>
            </a:pPr>
            <a:endParaRPr lang="en-US" sz="1150" dirty="0"/>
          </a:p>
        </p:txBody>
      </p:sp>
      <p:sp>
        <p:nvSpPr>
          <p:cNvPr id="6" name="Text 4"/>
          <p:cNvSpPr/>
          <p:nvPr/>
        </p:nvSpPr>
        <p:spPr>
          <a:xfrm>
            <a:off x="1197342" y="2051447"/>
            <a:ext cx="4286937" cy="499070"/>
          </a:xfrm>
          <a:prstGeom prst="rect">
            <a:avLst/>
          </a:prstGeom>
          <a:noFill/>
          <a:ln/>
        </p:spPr>
        <p:txBody>
          <a:bodyPr wrap="none" lIns="0" tIns="0" rIns="0" bIns="0" rtlCol="0" anchor="t"/>
          <a:lstStyle/>
          <a:p>
            <a:pPr marL="0" indent="0" algn="ctr">
              <a:lnSpc>
                <a:spcPct val="83000"/>
              </a:lnSpc>
              <a:buNone/>
            </a:pPr>
            <a:r>
              <a:rPr lang="en-US" sz="3900" b="1" dirty="0">
                <a:solidFill>
                  <a:srgbClr val="C0FF03"/>
                </a:solidFill>
                <a:latin typeface="Inter Bold" pitchFamily="34" charset="0"/>
                <a:ea typeface="Inter Bold" pitchFamily="34" charset="-122"/>
                <a:cs typeface="Inter Bold" pitchFamily="34" charset="-120"/>
              </a:rPr>
              <a:t>1,470</a:t>
            </a:r>
            <a:endParaRPr lang="en-US" sz="3900" dirty="0"/>
          </a:p>
        </p:txBody>
      </p:sp>
      <p:sp>
        <p:nvSpPr>
          <p:cNvPr id="7" name="Text 5"/>
          <p:cNvSpPr/>
          <p:nvPr/>
        </p:nvSpPr>
        <p:spPr>
          <a:xfrm>
            <a:off x="661475" y="2716808"/>
            <a:ext cx="5358770" cy="236240"/>
          </a:xfrm>
          <a:prstGeom prst="rect">
            <a:avLst/>
          </a:prstGeom>
          <a:noFill/>
          <a:ln/>
        </p:spPr>
        <p:txBody>
          <a:bodyPr wrap="none" lIns="0" tIns="0" rIns="0" bIns="0" rtlCol="0" anchor="t"/>
          <a:lstStyle/>
          <a:p>
            <a:pPr marL="0" indent="0" algn="ctr">
              <a:lnSpc>
                <a:spcPct val="104000"/>
              </a:lnSpc>
              <a:buNone/>
            </a:pPr>
            <a:r>
              <a:rPr lang="en-US" sz="1450" b="1" dirty="0">
                <a:solidFill>
                  <a:srgbClr val="272525"/>
                </a:solidFill>
                <a:latin typeface="Inter Bold" pitchFamily="34" charset="0"/>
                <a:ea typeface="Inter Bold" pitchFamily="34" charset="-122"/>
                <a:cs typeface="Inter Bold" pitchFamily="34" charset="-120"/>
              </a:rPr>
              <a:t>Total Employees</a:t>
            </a:r>
            <a:endParaRPr lang="en-US" sz="1450" dirty="0"/>
          </a:p>
        </p:txBody>
      </p:sp>
      <p:sp>
        <p:nvSpPr>
          <p:cNvPr id="8" name="Text 6"/>
          <p:cNvSpPr/>
          <p:nvPr/>
        </p:nvSpPr>
        <p:spPr>
          <a:xfrm>
            <a:off x="661475" y="3025577"/>
            <a:ext cx="5358770" cy="217686"/>
          </a:xfrm>
          <a:prstGeom prst="rect">
            <a:avLst/>
          </a:prstGeom>
          <a:noFill/>
          <a:ln/>
        </p:spPr>
        <p:txBody>
          <a:bodyPr wrap="none" lIns="0" tIns="0" rIns="0" bIns="0" rtlCol="0" anchor="t"/>
          <a:lstStyle/>
          <a:p>
            <a:pPr marL="0" indent="0" algn="ctr">
              <a:lnSpc>
                <a:spcPct val="120000"/>
              </a:lnSpc>
              <a:buNone/>
            </a:pPr>
            <a:r>
              <a:rPr lang="en-US" sz="1150" dirty="0">
                <a:solidFill>
                  <a:srgbClr val="272525"/>
                </a:solidFill>
                <a:latin typeface="Inter" pitchFamily="34" charset="0"/>
                <a:ea typeface="Inter" pitchFamily="34" charset="-122"/>
                <a:cs typeface="Inter" pitchFamily="34" charset="-120"/>
              </a:rPr>
              <a:t>Total records in the HR attrition dataset</a:t>
            </a:r>
            <a:endParaRPr lang="en-US" sz="1150" dirty="0"/>
          </a:p>
        </p:txBody>
      </p:sp>
      <p:sp>
        <p:nvSpPr>
          <p:cNvPr id="9" name="Text 7"/>
          <p:cNvSpPr/>
          <p:nvPr/>
        </p:nvSpPr>
        <p:spPr>
          <a:xfrm>
            <a:off x="6707317" y="2051447"/>
            <a:ext cx="4286937" cy="499070"/>
          </a:xfrm>
          <a:prstGeom prst="rect">
            <a:avLst/>
          </a:prstGeom>
          <a:noFill/>
          <a:ln/>
        </p:spPr>
        <p:txBody>
          <a:bodyPr wrap="none" lIns="0" tIns="0" rIns="0" bIns="0" rtlCol="0" anchor="t"/>
          <a:lstStyle/>
          <a:p>
            <a:pPr marL="0" indent="0" algn="ctr">
              <a:lnSpc>
                <a:spcPct val="83000"/>
              </a:lnSpc>
              <a:buNone/>
            </a:pPr>
            <a:r>
              <a:rPr lang="en-US" sz="3900" b="1" dirty="0">
                <a:solidFill>
                  <a:srgbClr val="C0FF03"/>
                </a:solidFill>
                <a:latin typeface="Inter Bold" pitchFamily="34" charset="0"/>
                <a:ea typeface="Inter Bold" pitchFamily="34" charset="-122"/>
                <a:cs typeface="Inter Bold" pitchFamily="34" charset="-120"/>
              </a:rPr>
              <a:t>35</a:t>
            </a:r>
            <a:endParaRPr lang="en-US" sz="3900" dirty="0"/>
          </a:p>
        </p:txBody>
      </p:sp>
      <p:sp>
        <p:nvSpPr>
          <p:cNvPr id="10" name="Text 8"/>
          <p:cNvSpPr/>
          <p:nvPr/>
        </p:nvSpPr>
        <p:spPr>
          <a:xfrm>
            <a:off x="6171450" y="2716808"/>
            <a:ext cx="5358770" cy="236240"/>
          </a:xfrm>
          <a:prstGeom prst="rect">
            <a:avLst/>
          </a:prstGeom>
          <a:noFill/>
          <a:ln/>
        </p:spPr>
        <p:txBody>
          <a:bodyPr wrap="none" lIns="0" tIns="0" rIns="0" bIns="0" rtlCol="0" anchor="t"/>
          <a:lstStyle/>
          <a:p>
            <a:pPr marL="0" indent="0" algn="ctr">
              <a:lnSpc>
                <a:spcPct val="104000"/>
              </a:lnSpc>
              <a:buNone/>
            </a:pPr>
            <a:r>
              <a:rPr lang="en-US" sz="1450" b="1" dirty="0">
                <a:solidFill>
                  <a:srgbClr val="272525"/>
                </a:solidFill>
                <a:latin typeface="Inter Bold" pitchFamily="34" charset="0"/>
                <a:ea typeface="Inter Bold" pitchFamily="34" charset="-122"/>
                <a:cs typeface="Inter Bold" pitchFamily="34" charset="-120"/>
              </a:rPr>
              <a:t>Total Features</a:t>
            </a:r>
            <a:endParaRPr lang="en-US" sz="1450" dirty="0"/>
          </a:p>
        </p:txBody>
      </p:sp>
      <p:sp>
        <p:nvSpPr>
          <p:cNvPr id="11" name="Text 9"/>
          <p:cNvSpPr/>
          <p:nvPr/>
        </p:nvSpPr>
        <p:spPr>
          <a:xfrm>
            <a:off x="6171450" y="3025577"/>
            <a:ext cx="5358770" cy="217686"/>
          </a:xfrm>
          <a:prstGeom prst="rect">
            <a:avLst/>
          </a:prstGeom>
          <a:noFill/>
          <a:ln/>
        </p:spPr>
        <p:txBody>
          <a:bodyPr wrap="none" lIns="0" tIns="0" rIns="0" bIns="0" rtlCol="0" anchor="t"/>
          <a:lstStyle/>
          <a:p>
            <a:pPr marL="0" indent="0" algn="ctr">
              <a:lnSpc>
                <a:spcPct val="120000"/>
              </a:lnSpc>
              <a:buNone/>
            </a:pPr>
            <a:r>
              <a:rPr lang="en-US" sz="1150" dirty="0">
                <a:solidFill>
                  <a:srgbClr val="272525"/>
                </a:solidFill>
                <a:latin typeface="Inter" pitchFamily="34" charset="0"/>
                <a:ea typeface="Inter" pitchFamily="34" charset="-122"/>
                <a:cs typeface="Inter" pitchFamily="34" charset="-120"/>
              </a:rPr>
              <a:t>Columns covering demographics, roles, and performance</a:t>
            </a:r>
            <a:endParaRPr lang="en-US" sz="1150" dirty="0"/>
          </a:p>
        </p:txBody>
      </p:sp>
      <p:sp>
        <p:nvSpPr>
          <p:cNvPr id="12" name="Shape 10"/>
          <p:cNvSpPr/>
          <p:nvPr/>
        </p:nvSpPr>
        <p:spPr>
          <a:xfrm>
            <a:off x="661475" y="3417094"/>
            <a:ext cx="10868745" cy="19050"/>
          </a:xfrm>
          <a:prstGeom prst="roundRect">
            <a:avLst>
              <a:gd name="adj" fmla="val 59999"/>
            </a:avLst>
          </a:prstGeom>
          <a:solidFill>
            <a:srgbClr val="272525">
              <a:alpha val="50000"/>
            </a:srgbClr>
          </a:solidFill>
          <a:ln/>
        </p:spPr>
      </p:sp>
      <p:sp>
        <p:nvSpPr>
          <p:cNvPr id="13" name="Text 11"/>
          <p:cNvSpPr/>
          <p:nvPr/>
        </p:nvSpPr>
        <p:spPr>
          <a:xfrm>
            <a:off x="661475" y="3730923"/>
            <a:ext cx="5249930" cy="236240"/>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Inter Bold" pitchFamily="34" charset="0"/>
                <a:ea typeface="Inter Bold" pitchFamily="34" charset="-122"/>
                <a:cs typeface="Inter Bold" pitchFamily="34" charset="-120"/>
              </a:rPr>
              <a:t>Dataset Features</a:t>
            </a:r>
            <a:endParaRPr lang="en-US" sz="1450" dirty="0"/>
          </a:p>
        </p:txBody>
      </p:sp>
      <p:sp>
        <p:nvSpPr>
          <p:cNvPr id="14" name="Text 12"/>
          <p:cNvSpPr/>
          <p:nvPr/>
        </p:nvSpPr>
        <p:spPr>
          <a:xfrm>
            <a:off x="661475" y="4088110"/>
            <a:ext cx="5249930" cy="2037358"/>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Employee Demographics</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Department &amp; Job Role</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Age &amp; Gender</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Monthly Income</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Years at Company</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Job Satisfaction</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Business Travel</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Overtime &amp; Attrition Status</a:t>
            </a:r>
            <a:endParaRPr lang="en-US" sz="1150" dirty="0"/>
          </a:p>
        </p:txBody>
      </p:sp>
      <p:sp>
        <p:nvSpPr>
          <p:cNvPr id="15" name="Text 13"/>
          <p:cNvSpPr/>
          <p:nvPr/>
        </p:nvSpPr>
        <p:spPr>
          <a:xfrm>
            <a:off x="6286640" y="3730923"/>
            <a:ext cx="5249930" cy="236240"/>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Inter Bold" pitchFamily="34" charset="0"/>
                <a:ea typeface="Inter Bold" pitchFamily="34" charset="-122"/>
                <a:cs typeface="Inter Bold" pitchFamily="34" charset="-120"/>
              </a:rPr>
              <a:t>Tools Used</a:t>
            </a:r>
            <a:endParaRPr lang="en-US" sz="1450" dirty="0"/>
          </a:p>
        </p:txBody>
      </p:sp>
      <p:sp>
        <p:nvSpPr>
          <p:cNvPr id="16" name="Text 14"/>
          <p:cNvSpPr/>
          <p:nvPr/>
        </p:nvSpPr>
        <p:spPr>
          <a:xfrm>
            <a:off x="6286640" y="4088110"/>
            <a:ext cx="5249930" cy="997545"/>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Excel</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Python (Pandas)</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SQL (MySQL)</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Power BI</a:t>
            </a:r>
            <a:endParaRPr lang="en-US" sz="1150" dirty="0"/>
          </a:p>
        </p:txBody>
      </p:sp>
      <p:sp>
        <p:nvSpPr>
          <p:cNvPr id="17" name="Text 15"/>
          <p:cNvSpPr/>
          <p:nvPr/>
        </p:nvSpPr>
        <p:spPr>
          <a:xfrm>
            <a:off x="6286640" y="5194498"/>
            <a:ext cx="5859514" cy="217686"/>
          </a:xfrm>
          <a:prstGeom prst="rect">
            <a:avLst/>
          </a:prstGeom>
          <a:noFill/>
          <a:ln/>
        </p:spPr>
        <p:txBody>
          <a:bodyPr wrap="none" lIns="0" tIns="0" rIns="0" bIns="0" rtlCol="0" anchor="t"/>
          <a:lstStyle/>
          <a:p>
            <a:pPr marL="0" indent="0" algn="l">
              <a:lnSpc>
                <a:spcPct val="120000"/>
              </a:lnSpc>
              <a:buNone/>
            </a:pPr>
            <a:r>
              <a:rPr lang="en-US" sz="1150" b="1" dirty="0">
                <a:solidFill>
                  <a:srgbClr val="272525"/>
                </a:solidFill>
                <a:latin typeface="Inter Bold" pitchFamily="34" charset="0"/>
                <a:ea typeface="Inter Bold" pitchFamily="34" charset="-122"/>
                <a:cs typeface="Inter Bold" pitchFamily="34" charset="-120"/>
              </a:rPr>
              <a:t>Source:</a:t>
            </a:r>
            <a:r>
              <a:rPr lang="en-US" sz="1150" dirty="0">
                <a:solidFill>
                  <a:srgbClr val="272525"/>
                </a:solidFill>
                <a:latin typeface="Inter" pitchFamily="34" charset="0"/>
                <a:ea typeface="Inter" pitchFamily="34" charset="-122"/>
                <a:cs typeface="Inter" pitchFamily="34" charset="-120"/>
              </a:rPr>
              <a:t> IBM HR Analytics Employee Attrition Dataset</a:t>
            </a:r>
            <a:endParaRPr lang="en-US" sz="1150" dirty="0"/>
          </a:p>
        </p:txBody>
      </p:sp>
      <p:sp>
        <p:nvSpPr>
          <p:cNvPr id="18" name="Rounded Rectangle 17"/>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19" name="Image 0" descr="preencoded.png"/>
          <p:cNvPicPr>
            <a:picLocks noChangeAspect="1"/>
          </p:cNvPicPr>
          <p:nvPr/>
        </p:nvPicPr>
        <p:blipFill>
          <a:blip r:embed="rId3"/>
          <a:stretch>
            <a:fillRect/>
          </a:stretch>
        </p:blipFill>
        <p:spPr>
          <a:xfrm>
            <a:off x="11043460" y="6468145"/>
            <a:ext cx="1148539" cy="3575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640755"/>
            <a:ext cx="592619" cy="215305"/>
          </a:xfrm>
          <a:prstGeom prst="roundRect">
            <a:avLst>
              <a:gd name="adj" fmla="val 22123"/>
            </a:avLst>
          </a:prstGeom>
          <a:noFill/>
          <a:ln w="6350">
            <a:solidFill>
              <a:srgbClr val="4950BC"/>
            </a:solidFill>
            <a:prstDash val="solid"/>
          </a:ln>
        </p:spPr>
      </p:sp>
      <p:sp>
        <p:nvSpPr>
          <p:cNvPr id="4" name="Text 1"/>
          <p:cNvSpPr/>
          <p:nvPr/>
        </p:nvSpPr>
        <p:spPr>
          <a:xfrm>
            <a:off x="5318389" y="683220"/>
            <a:ext cx="1032147" cy="130373"/>
          </a:xfrm>
          <a:prstGeom prst="rect">
            <a:avLst/>
          </a:prstGeom>
          <a:noFill/>
          <a:ln/>
        </p:spPr>
        <p:txBody>
          <a:bodyPr wrap="none" lIns="0" tIns="0" rIns="0" bIns="0" rtlCol="0" anchor="t"/>
          <a:lstStyle/>
          <a:p>
            <a:pPr marL="0" indent="0" algn="l">
              <a:lnSpc>
                <a:spcPct val="96000"/>
              </a:lnSpc>
              <a:buNone/>
            </a:pPr>
            <a:r>
              <a:rPr lang="en-US" sz="850" dirty="0">
                <a:solidFill>
                  <a:srgbClr val="4950BC"/>
                </a:solidFill>
                <a:latin typeface="Inter" pitchFamily="34" charset="0"/>
                <a:ea typeface="Inter" pitchFamily="34" charset="-122"/>
                <a:cs typeface="Inter" pitchFamily="34" charset="-120"/>
              </a:rPr>
              <a:t>SLIDE 4</a:t>
            </a:r>
            <a:endParaRPr lang="en-US" sz="850" dirty="0"/>
          </a:p>
        </p:txBody>
      </p:sp>
      <p:sp>
        <p:nvSpPr>
          <p:cNvPr id="5" name="Text 2"/>
          <p:cNvSpPr/>
          <p:nvPr/>
        </p:nvSpPr>
        <p:spPr>
          <a:xfrm>
            <a:off x="5233360" y="898525"/>
            <a:ext cx="6296860" cy="443012"/>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Data Cleaning &amp; Validation</a:t>
            </a:r>
            <a:endParaRPr lang="en-US" sz="2750" dirty="0"/>
          </a:p>
        </p:txBody>
      </p:sp>
      <p:sp>
        <p:nvSpPr>
          <p:cNvPr id="6" name="Text 3"/>
          <p:cNvSpPr/>
          <p:nvPr/>
        </p:nvSpPr>
        <p:spPr>
          <a:xfrm>
            <a:off x="5233360" y="1500981"/>
            <a:ext cx="629686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272525"/>
                </a:solidFill>
                <a:latin typeface="Inter" pitchFamily="34" charset="0"/>
                <a:ea typeface="Inter" pitchFamily="34" charset="-122"/>
                <a:cs typeface="Inter" pitchFamily="34" charset="-120"/>
              </a:rPr>
              <a:t>Before creating the dashboard, the dataset was cleaned and validated to ensure reliable and accurate analysis.</a:t>
            </a:r>
            <a:endParaRPr lang="en-US" sz="1100" dirty="0"/>
          </a:p>
        </p:txBody>
      </p:sp>
      <p:sp>
        <p:nvSpPr>
          <p:cNvPr id="7" name="Text 4"/>
          <p:cNvSpPr/>
          <p:nvPr/>
        </p:nvSpPr>
        <p:spPr>
          <a:xfrm>
            <a:off x="5233360" y="2017415"/>
            <a:ext cx="283461" cy="177205"/>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Inter Light" pitchFamily="34" charset="0"/>
                <a:ea typeface="Inter Light" pitchFamily="34" charset="-122"/>
                <a:cs typeface="Inter Light" pitchFamily="34" charset="-120"/>
              </a:rPr>
              <a:t>01</a:t>
            </a:r>
            <a:endParaRPr lang="en-US" sz="1100" dirty="0"/>
          </a:p>
        </p:txBody>
      </p:sp>
      <p:sp>
        <p:nvSpPr>
          <p:cNvPr id="8" name="Shape 5"/>
          <p:cNvSpPr/>
          <p:nvPr/>
        </p:nvSpPr>
        <p:spPr>
          <a:xfrm>
            <a:off x="5233360" y="2239268"/>
            <a:ext cx="6296860" cy="19050"/>
          </a:xfrm>
          <a:prstGeom prst="rect">
            <a:avLst/>
          </a:prstGeom>
          <a:solidFill>
            <a:srgbClr val="4950BC"/>
          </a:solidFill>
          <a:ln/>
        </p:spPr>
      </p:sp>
      <p:sp>
        <p:nvSpPr>
          <p:cNvPr id="9" name="Text 6"/>
          <p:cNvSpPr/>
          <p:nvPr/>
        </p:nvSpPr>
        <p:spPr>
          <a:xfrm>
            <a:off x="5233360" y="2348210"/>
            <a:ext cx="6296860"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Remove Duplicates</a:t>
            </a:r>
            <a:endParaRPr lang="en-US" sz="1350" dirty="0"/>
          </a:p>
        </p:txBody>
      </p:sp>
      <p:sp>
        <p:nvSpPr>
          <p:cNvPr id="10" name="Text 7"/>
          <p:cNvSpPr/>
          <p:nvPr/>
        </p:nvSpPr>
        <p:spPr>
          <a:xfrm>
            <a:off x="5233360" y="2633365"/>
            <a:ext cx="6296860" cy="198438"/>
          </a:xfrm>
          <a:prstGeom prst="rect">
            <a:avLst/>
          </a:prstGeom>
          <a:noFill/>
          <a:ln/>
        </p:spPr>
        <p:txBody>
          <a:bodyPr wrap="none" lIns="0" tIns="0" rIns="0" bIns="0" rtlCol="0" anchor="t"/>
          <a:lstStyle/>
          <a:p>
            <a:pPr marL="0" indent="0" algn="l">
              <a:lnSpc>
                <a:spcPct val="117000"/>
              </a:lnSpc>
              <a:buNone/>
            </a:pPr>
            <a:r>
              <a:rPr lang="en-US" sz="1100" dirty="0">
                <a:solidFill>
                  <a:srgbClr val="272525"/>
                </a:solidFill>
                <a:latin typeface="Inter" pitchFamily="34" charset="0"/>
                <a:ea typeface="Inter" pitchFamily="34" charset="-122"/>
                <a:cs typeface="Inter" pitchFamily="34" charset="-120"/>
              </a:rPr>
              <a:t>Eliminated duplicate records to maintain data integrity across all 1,470 employee entries.</a:t>
            </a:r>
            <a:endParaRPr lang="en-US" sz="1100" dirty="0"/>
          </a:p>
        </p:txBody>
      </p:sp>
      <p:sp>
        <p:nvSpPr>
          <p:cNvPr id="11" name="Text 8"/>
          <p:cNvSpPr/>
          <p:nvPr/>
        </p:nvSpPr>
        <p:spPr>
          <a:xfrm>
            <a:off x="5233360" y="3044329"/>
            <a:ext cx="283461" cy="177205"/>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Inter Light" pitchFamily="34" charset="0"/>
                <a:ea typeface="Inter Light" pitchFamily="34" charset="-122"/>
                <a:cs typeface="Inter Light" pitchFamily="34" charset="-120"/>
              </a:rPr>
              <a:t>02</a:t>
            </a:r>
            <a:endParaRPr lang="en-US" sz="1100" dirty="0"/>
          </a:p>
        </p:txBody>
      </p:sp>
      <p:sp>
        <p:nvSpPr>
          <p:cNvPr id="12" name="Shape 9"/>
          <p:cNvSpPr/>
          <p:nvPr/>
        </p:nvSpPr>
        <p:spPr>
          <a:xfrm>
            <a:off x="5233360" y="3266182"/>
            <a:ext cx="6296860" cy="19050"/>
          </a:xfrm>
          <a:prstGeom prst="rect">
            <a:avLst/>
          </a:prstGeom>
          <a:solidFill>
            <a:srgbClr val="4950BC"/>
          </a:solidFill>
          <a:ln/>
        </p:spPr>
      </p:sp>
      <p:sp>
        <p:nvSpPr>
          <p:cNvPr id="13" name="Text 10"/>
          <p:cNvSpPr/>
          <p:nvPr/>
        </p:nvSpPr>
        <p:spPr>
          <a:xfrm>
            <a:off x="5233360" y="3375124"/>
            <a:ext cx="6296860"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Handle Missing Values</a:t>
            </a:r>
            <a:endParaRPr lang="en-US" sz="1350" dirty="0"/>
          </a:p>
        </p:txBody>
      </p:sp>
      <p:sp>
        <p:nvSpPr>
          <p:cNvPr id="14" name="Text 11"/>
          <p:cNvSpPr/>
          <p:nvPr/>
        </p:nvSpPr>
        <p:spPr>
          <a:xfrm>
            <a:off x="5233360" y="3660279"/>
            <a:ext cx="6296860" cy="198438"/>
          </a:xfrm>
          <a:prstGeom prst="rect">
            <a:avLst/>
          </a:prstGeom>
          <a:noFill/>
          <a:ln/>
        </p:spPr>
        <p:txBody>
          <a:bodyPr wrap="none" lIns="0" tIns="0" rIns="0" bIns="0" rtlCol="0" anchor="t"/>
          <a:lstStyle/>
          <a:p>
            <a:pPr marL="0" indent="0" algn="l">
              <a:lnSpc>
                <a:spcPct val="117000"/>
              </a:lnSpc>
              <a:buNone/>
            </a:pPr>
            <a:r>
              <a:rPr lang="en-US" sz="1100" dirty="0">
                <a:solidFill>
                  <a:srgbClr val="272525"/>
                </a:solidFill>
                <a:latin typeface="Inter" pitchFamily="34" charset="0"/>
                <a:ea typeface="Inter" pitchFamily="34" charset="-122"/>
                <a:cs typeface="Inter" pitchFamily="34" charset="-120"/>
              </a:rPr>
              <a:t>Checked and resolved null or missing values across all 35 attributes in the dataset.</a:t>
            </a:r>
            <a:endParaRPr lang="en-US" sz="1100" dirty="0"/>
          </a:p>
        </p:txBody>
      </p:sp>
      <p:sp>
        <p:nvSpPr>
          <p:cNvPr id="15" name="Text 12"/>
          <p:cNvSpPr/>
          <p:nvPr/>
        </p:nvSpPr>
        <p:spPr>
          <a:xfrm>
            <a:off x="5233360" y="4071243"/>
            <a:ext cx="283461" cy="177205"/>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Inter Light" pitchFamily="34" charset="0"/>
                <a:ea typeface="Inter Light" pitchFamily="34" charset="-122"/>
                <a:cs typeface="Inter Light" pitchFamily="34" charset="-120"/>
              </a:rPr>
              <a:t>03</a:t>
            </a:r>
            <a:endParaRPr lang="en-US" sz="1100" dirty="0"/>
          </a:p>
        </p:txBody>
      </p:sp>
      <p:sp>
        <p:nvSpPr>
          <p:cNvPr id="16" name="Shape 13"/>
          <p:cNvSpPr/>
          <p:nvPr/>
        </p:nvSpPr>
        <p:spPr>
          <a:xfrm>
            <a:off x="5233360" y="4293096"/>
            <a:ext cx="6296860" cy="19050"/>
          </a:xfrm>
          <a:prstGeom prst="rect">
            <a:avLst/>
          </a:prstGeom>
          <a:solidFill>
            <a:srgbClr val="4950BC"/>
          </a:solidFill>
          <a:ln/>
        </p:spPr>
      </p:sp>
      <p:sp>
        <p:nvSpPr>
          <p:cNvPr id="17" name="Text 14"/>
          <p:cNvSpPr/>
          <p:nvPr/>
        </p:nvSpPr>
        <p:spPr>
          <a:xfrm>
            <a:off x="5233360" y="4402038"/>
            <a:ext cx="6296860"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Standardize &amp; Validate</a:t>
            </a:r>
            <a:endParaRPr lang="en-US" sz="1350" dirty="0"/>
          </a:p>
        </p:txBody>
      </p:sp>
      <p:sp>
        <p:nvSpPr>
          <p:cNvPr id="18" name="Text 15"/>
          <p:cNvSpPr/>
          <p:nvPr/>
        </p:nvSpPr>
        <p:spPr>
          <a:xfrm>
            <a:off x="5233360" y="4687193"/>
            <a:ext cx="6296860" cy="198438"/>
          </a:xfrm>
          <a:prstGeom prst="rect">
            <a:avLst/>
          </a:prstGeom>
          <a:noFill/>
          <a:ln/>
        </p:spPr>
        <p:txBody>
          <a:bodyPr wrap="none" lIns="0" tIns="0" rIns="0" bIns="0" rtlCol="0" anchor="t"/>
          <a:lstStyle/>
          <a:p>
            <a:pPr marL="0" indent="0" algn="l">
              <a:lnSpc>
                <a:spcPct val="117000"/>
              </a:lnSpc>
              <a:buNone/>
            </a:pPr>
            <a:r>
              <a:rPr lang="en-US" sz="1100" dirty="0">
                <a:solidFill>
                  <a:srgbClr val="272525"/>
                </a:solidFill>
                <a:latin typeface="Inter" pitchFamily="34" charset="0"/>
                <a:ea typeface="Inter" pitchFamily="34" charset="-122"/>
                <a:cs typeface="Inter" pitchFamily="34" charset="-120"/>
              </a:rPr>
              <a:t>Corrected data types, standardized categorical values, and created Age Group categories.</a:t>
            </a:r>
            <a:endParaRPr lang="en-US" sz="1100" dirty="0"/>
          </a:p>
        </p:txBody>
      </p:sp>
      <p:sp>
        <p:nvSpPr>
          <p:cNvPr id="19" name="Text 16"/>
          <p:cNvSpPr/>
          <p:nvPr/>
        </p:nvSpPr>
        <p:spPr>
          <a:xfrm>
            <a:off x="5233360" y="5098157"/>
            <a:ext cx="283461" cy="177205"/>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Inter Light" pitchFamily="34" charset="0"/>
                <a:ea typeface="Inter Light" pitchFamily="34" charset="-122"/>
                <a:cs typeface="Inter Light" pitchFamily="34" charset="-120"/>
              </a:rPr>
              <a:t>04</a:t>
            </a:r>
            <a:endParaRPr lang="en-US" sz="1100" dirty="0"/>
          </a:p>
        </p:txBody>
      </p:sp>
      <p:sp>
        <p:nvSpPr>
          <p:cNvPr id="20" name="Shape 17"/>
          <p:cNvSpPr/>
          <p:nvPr/>
        </p:nvSpPr>
        <p:spPr>
          <a:xfrm>
            <a:off x="5233360" y="5320010"/>
            <a:ext cx="6296860" cy="19050"/>
          </a:xfrm>
          <a:prstGeom prst="rect">
            <a:avLst/>
          </a:prstGeom>
          <a:solidFill>
            <a:srgbClr val="4950BC"/>
          </a:solidFill>
          <a:ln/>
        </p:spPr>
      </p:sp>
      <p:sp>
        <p:nvSpPr>
          <p:cNvPr id="21" name="Text 18"/>
          <p:cNvSpPr/>
          <p:nvPr/>
        </p:nvSpPr>
        <p:spPr>
          <a:xfrm>
            <a:off x="5233360" y="5428952"/>
            <a:ext cx="6296860"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Verify DAX &amp; Accuracy</a:t>
            </a:r>
            <a:endParaRPr lang="en-US" sz="1350" dirty="0"/>
          </a:p>
        </p:txBody>
      </p:sp>
      <p:sp>
        <p:nvSpPr>
          <p:cNvPr id="22" name="Text 19"/>
          <p:cNvSpPr/>
          <p:nvPr/>
        </p:nvSpPr>
        <p:spPr>
          <a:xfrm>
            <a:off x="5233360" y="5714107"/>
            <a:ext cx="629686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272525"/>
                </a:solidFill>
                <a:latin typeface="Inter" pitchFamily="34" charset="0"/>
                <a:ea typeface="Inter" pitchFamily="34" charset="-122"/>
                <a:cs typeface="Inter" pitchFamily="34" charset="-120"/>
              </a:rPr>
              <a:t>Validated all DAX formulas, confirmed data consistency, and verified calculated measures before visualization.</a:t>
            </a:r>
            <a:endParaRPr lang="en-US" sz="1100" dirty="0"/>
          </a:p>
        </p:txBody>
      </p:sp>
      <p:sp>
        <p:nvSpPr>
          <p:cNvPr id="23" name="Rounded Rectangle 22"/>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24" name="Image 0" descr="preencoded.png"/>
          <p:cNvPicPr>
            <a:picLocks noChangeAspect="1"/>
          </p:cNvPicPr>
          <p:nvPr/>
        </p:nvPicPr>
        <p:blipFill>
          <a:blip r:embed="rId4"/>
          <a:stretch>
            <a:fillRect/>
          </a:stretch>
        </p:blipFill>
        <p:spPr>
          <a:xfrm>
            <a:off x="11043460" y="6468145"/>
            <a:ext cx="1148539" cy="3575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97012"/>
            <a:ext cx="742634" cy="272752"/>
          </a:xfrm>
          <a:prstGeom prst="roundRect">
            <a:avLst>
              <a:gd name="adj" fmla="val 22121"/>
            </a:avLst>
          </a:prstGeom>
          <a:noFill/>
          <a:ln w="6350">
            <a:solidFill>
              <a:srgbClr val="4950BC"/>
            </a:solidFill>
            <a:prstDash val="solid"/>
          </a:ln>
        </p:spPr>
      </p:sp>
      <p:sp>
        <p:nvSpPr>
          <p:cNvPr id="3" name="Text 1"/>
          <p:cNvSpPr/>
          <p:nvPr/>
        </p:nvSpPr>
        <p:spPr>
          <a:xfrm>
            <a:off x="769125" y="750788"/>
            <a:ext cx="1136919" cy="165199"/>
          </a:xfrm>
          <a:prstGeom prst="rect">
            <a:avLst/>
          </a:prstGeom>
          <a:noFill/>
          <a:ln/>
        </p:spPr>
        <p:txBody>
          <a:bodyPr wrap="none" lIns="0" tIns="0" rIns="0" bIns="0" rtlCol="0" anchor="t"/>
          <a:lstStyle/>
          <a:p>
            <a:pPr marL="0" indent="0" algn="l">
              <a:lnSpc>
                <a:spcPct val="96000"/>
              </a:lnSpc>
              <a:buNone/>
            </a:pPr>
            <a:r>
              <a:rPr lang="en-US" sz="1100" dirty="0">
                <a:solidFill>
                  <a:srgbClr val="4950BC"/>
                </a:solidFill>
                <a:latin typeface="Inter" pitchFamily="34" charset="0"/>
                <a:ea typeface="Inter" pitchFamily="34" charset="-122"/>
                <a:cs typeface="Inter" pitchFamily="34" charset="-120"/>
              </a:rPr>
              <a:t>SLIDE 5</a:t>
            </a:r>
            <a:endParaRPr lang="en-US" sz="1100" dirty="0"/>
          </a:p>
        </p:txBody>
      </p:sp>
      <p:sp>
        <p:nvSpPr>
          <p:cNvPr id="4" name="Text 2"/>
          <p:cNvSpPr/>
          <p:nvPr/>
        </p:nvSpPr>
        <p:spPr>
          <a:xfrm>
            <a:off x="661475" y="1037927"/>
            <a:ext cx="10868745" cy="561181"/>
          </a:xfrm>
          <a:prstGeom prst="rect">
            <a:avLst/>
          </a:prstGeom>
          <a:noFill/>
          <a:ln/>
        </p:spPr>
        <p:txBody>
          <a:bodyPr wrap="none" lIns="0" tIns="0" rIns="0" bIns="0" rtlCol="0" anchor="t"/>
          <a:lstStyle/>
          <a:p>
            <a:pPr marL="0" indent="0" algn="l">
              <a:lnSpc>
                <a:spcPct val="104000"/>
              </a:lnSpc>
              <a:buNone/>
            </a:pPr>
            <a:r>
              <a:rPr lang="en-US" sz="3500" b="1" dirty="0">
                <a:solidFill>
                  <a:srgbClr val="000000"/>
                </a:solidFill>
                <a:latin typeface="Inter Bold" pitchFamily="34" charset="0"/>
                <a:ea typeface="Inter Bold" pitchFamily="34" charset="-122"/>
                <a:cs typeface="Inter Bold" pitchFamily="34" charset="-120"/>
              </a:rPr>
              <a:t>Dashboard Features</a:t>
            </a:r>
            <a:endParaRPr lang="en-US" sz="3500" dirty="0"/>
          </a:p>
        </p:txBody>
      </p:sp>
      <p:sp>
        <p:nvSpPr>
          <p:cNvPr id="5" name="Text 3"/>
          <p:cNvSpPr/>
          <p:nvPr/>
        </p:nvSpPr>
        <p:spPr>
          <a:xfrm>
            <a:off x="661475" y="1854994"/>
            <a:ext cx="11478330" cy="280095"/>
          </a:xfrm>
          <a:prstGeom prst="rect">
            <a:avLst/>
          </a:prstGeom>
          <a:noFill/>
          <a:ln/>
        </p:spPr>
        <p:txBody>
          <a:bodyPr wrap="none" lIns="0" tIns="0" rIns="0" bIns="0" rtlCol="0" anchor="t"/>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The dashboard provides an executive-level overview of employee attrition through interactive visualizations and dynamic filters.</a:t>
            </a:r>
            <a:endParaRPr lang="en-US" sz="1400" dirty="0"/>
          </a:p>
        </p:txBody>
      </p:sp>
      <p:sp>
        <p:nvSpPr>
          <p:cNvPr id="6" name="Shape 4"/>
          <p:cNvSpPr/>
          <p:nvPr/>
        </p:nvSpPr>
        <p:spPr>
          <a:xfrm>
            <a:off x="661475" y="2326977"/>
            <a:ext cx="5349047" cy="538659"/>
          </a:xfrm>
          <a:prstGeom prst="roundRect">
            <a:avLst>
              <a:gd name="adj" fmla="val 480039"/>
            </a:avLst>
          </a:prstGeom>
          <a:solidFill>
            <a:srgbClr val="DADBF1"/>
          </a:solidFill>
          <a:ln w="6350">
            <a:solidFill>
              <a:srgbClr val="C0C1D7"/>
            </a:solidFill>
            <a:prstDash val="solid"/>
          </a:ln>
        </p:spPr>
      </p:sp>
      <p:pic>
        <p:nvPicPr>
          <p:cNvPr id="7"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3201312" y="2461617"/>
            <a:ext cx="269273" cy="269280"/>
          </a:xfrm>
          <a:prstGeom prst="rect">
            <a:avLst/>
          </a:prstGeom>
        </p:spPr>
      </p:pic>
      <p:sp>
        <p:nvSpPr>
          <p:cNvPr id="8" name="Text 5"/>
          <p:cNvSpPr/>
          <p:nvPr/>
        </p:nvSpPr>
        <p:spPr>
          <a:xfrm>
            <a:off x="840957" y="3036193"/>
            <a:ext cx="4990082" cy="280491"/>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KPI Cards</a:t>
            </a:r>
            <a:endParaRPr lang="en-US" sz="1750" dirty="0"/>
          </a:p>
        </p:txBody>
      </p:sp>
      <p:sp>
        <p:nvSpPr>
          <p:cNvPr id="9" name="Text 6"/>
          <p:cNvSpPr/>
          <p:nvPr/>
        </p:nvSpPr>
        <p:spPr>
          <a:xfrm>
            <a:off x="840957" y="3418979"/>
            <a:ext cx="4990082"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High-level workforce metrics including total employees, attrition rate, and average income at a glance.</a:t>
            </a:r>
            <a:endParaRPr lang="en-US" sz="1400" dirty="0"/>
          </a:p>
        </p:txBody>
      </p:sp>
      <p:sp>
        <p:nvSpPr>
          <p:cNvPr id="10" name="Shape 7"/>
          <p:cNvSpPr/>
          <p:nvPr/>
        </p:nvSpPr>
        <p:spPr>
          <a:xfrm>
            <a:off x="6181074" y="2326977"/>
            <a:ext cx="5349146" cy="538659"/>
          </a:xfrm>
          <a:prstGeom prst="roundRect">
            <a:avLst>
              <a:gd name="adj" fmla="val 480039"/>
            </a:avLst>
          </a:prstGeom>
          <a:solidFill>
            <a:srgbClr val="DADBF1"/>
          </a:solidFill>
          <a:ln w="6350">
            <a:solidFill>
              <a:srgbClr val="C0C1D7"/>
            </a:solidFill>
            <a:prstDash val="solid"/>
          </a:ln>
        </p:spPr>
      </p:sp>
      <p:pic>
        <p:nvPicPr>
          <p:cNvPr id="11" name="Image 1" descr="preencoded.png"/>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8721011" y="2461617"/>
            <a:ext cx="269273" cy="269280"/>
          </a:xfrm>
          <a:prstGeom prst="rect">
            <a:avLst/>
          </a:prstGeom>
        </p:spPr>
      </p:pic>
      <p:sp>
        <p:nvSpPr>
          <p:cNvPr id="12" name="Text 8"/>
          <p:cNvSpPr/>
          <p:nvPr/>
        </p:nvSpPr>
        <p:spPr>
          <a:xfrm>
            <a:off x="6360557" y="3036193"/>
            <a:ext cx="4990181" cy="280491"/>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Department Analysis</a:t>
            </a:r>
            <a:endParaRPr lang="en-US" sz="1750" dirty="0"/>
          </a:p>
        </p:txBody>
      </p:sp>
      <p:sp>
        <p:nvSpPr>
          <p:cNvPr id="13" name="Text 9"/>
          <p:cNvSpPr/>
          <p:nvPr/>
        </p:nvSpPr>
        <p:spPr>
          <a:xfrm>
            <a:off x="6360557" y="3418979"/>
            <a:ext cx="4990181"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Department-wise attrition breakdown, gender distribution, and job role-level turnover visualizations.</a:t>
            </a:r>
            <a:endParaRPr lang="en-US" sz="1400" dirty="0"/>
          </a:p>
        </p:txBody>
      </p:sp>
      <p:sp>
        <p:nvSpPr>
          <p:cNvPr id="14" name="Shape 10"/>
          <p:cNvSpPr/>
          <p:nvPr/>
        </p:nvSpPr>
        <p:spPr>
          <a:xfrm>
            <a:off x="661475" y="4329212"/>
            <a:ext cx="5349047" cy="538659"/>
          </a:xfrm>
          <a:prstGeom prst="roundRect">
            <a:avLst>
              <a:gd name="adj" fmla="val 480039"/>
            </a:avLst>
          </a:prstGeom>
          <a:solidFill>
            <a:srgbClr val="DADBF1"/>
          </a:solidFill>
          <a:ln w="6350">
            <a:solidFill>
              <a:srgbClr val="C0C1D7"/>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3201312" y="4463852"/>
            <a:ext cx="269273" cy="269280"/>
          </a:xfrm>
          <a:prstGeom prst="rect">
            <a:avLst/>
          </a:prstGeom>
        </p:spPr>
      </p:pic>
      <p:sp>
        <p:nvSpPr>
          <p:cNvPr id="16" name="Text 11"/>
          <p:cNvSpPr/>
          <p:nvPr/>
        </p:nvSpPr>
        <p:spPr>
          <a:xfrm>
            <a:off x="840957" y="5038427"/>
            <a:ext cx="4990082" cy="280491"/>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Demographics View</a:t>
            </a:r>
            <a:endParaRPr lang="en-US" sz="1750" dirty="0"/>
          </a:p>
        </p:txBody>
      </p:sp>
      <p:sp>
        <p:nvSpPr>
          <p:cNvPr id="17" name="Text 12"/>
          <p:cNvSpPr/>
          <p:nvPr/>
        </p:nvSpPr>
        <p:spPr>
          <a:xfrm>
            <a:off x="840957" y="5421213"/>
            <a:ext cx="4990082"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Age group analysis and average monthly income comparison across attrition categories.</a:t>
            </a:r>
            <a:endParaRPr lang="en-US" sz="1400" dirty="0"/>
          </a:p>
        </p:txBody>
      </p:sp>
      <p:sp>
        <p:nvSpPr>
          <p:cNvPr id="18" name="Shape 13"/>
          <p:cNvSpPr/>
          <p:nvPr/>
        </p:nvSpPr>
        <p:spPr>
          <a:xfrm>
            <a:off x="6181074" y="4329212"/>
            <a:ext cx="5349146" cy="538659"/>
          </a:xfrm>
          <a:prstGeom prst="roundRect">
            <a:avLst>
              <a:gd name="adj" fmla="val 480039"/>
            </a:avLst>
          </a:prstGeom>
          <a:solidFill>
            <a:srgbClr val="DADBF1"/>
          </a:solidFill>
          <a:ln w="6350">
            <a:solidFill>
              <a:srgbClr val="C0C1D7"/>
            </a:solidFill>
            <a:prstDash val="solid"/>
          </a:ln>
        </p:spPr>
      </p:sp>
      <p:pic>
        <p:nvPicPr>
          <p:cNvPr id="19" name="Image 3" descr="preencoded.png"/>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8721011" y="4463852"/>
            <a:ext cx="269273" cy="269280"/>
          </a:xfrm>
          <a:prstGeom prst="rect">
            <a:avLst/>
          </a:prstGeom>
        </p:spPr>
      </p:pic>
      <p:sp>
        <p:nvSpPr>
          <p:cNvPr id="20" name="Text 14"/>
          <p:cNvSpPr/>
          <p:nvPr/>
        </p:nvSpPr>
        <p:spPr>
          <a:xfrm>
            <a:off x="6360557" y="5038427"/>
            <a:ext cx="4990181" cy="280491"/>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Interactive Filters</a:t>
            </a:r>
            <a:endParaRPr lang="en-US" sz="1750" dirty="0"/>
          </a:p>
        </p:txBody>
      </p:sp>
      <p:sp>
        <p:nvSpPr>
          <p:cNvPr id="21" name="Text 15"/>
          <p:cNvSpPr/>
          <p:nvPr/>
        </p:nvSpPr>
        <p:spPr>
          <a:xfrm>
            <a:off x="6360557" y="5421213"/>
            <a:ext cx="4990181"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Dynamic slicers for Department, Gender, and Job Role enabling targeted workforce analysis.</a:t>
            </a:r>
            <a:endParaRPr lang="en-US" sz="1400" dirty="0"/>
          </a:p>
        </p:txBody>
      </p:sp>
      <p:sp>
        <p:nvSpPr>
          <p:cNvPr id="22" name="Rounded Rectangle 21"/>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23" name="Image 0" descr="preencoded.png"/>
          <p:cNvPicPr>
            <a:picLocks noChangeAspect="1"/>
          </p:cNvPicPr>
          <p:nvPr/>
        </p:nvPicPr>
        <p:blipFill>
          <a:blip r:embed="rId11"/>
          <a:stretch>
            <a:fillRect/>
          </a:stretch>
        </p:blipFill>
        <p:spPr>
          <a:xfrm>
            <a:off x="11043460" y="6468145"/>
            <a:ext cx="1148539" cy="3575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667841"/>
            <a:ext cx="628833" cy="229691"/>
          </a:xfrm>
          <a:prstGeom prst="roundRect">
            <a:avLst>
              <a:gd name="adj" fmla="val 22120"/>
            </a:avLst>
          </a:prstGeom>
          <a:noFill/>
          <a:ln w="6350">
            <a:solidFill>
              <a:srgbClr val="4950BC"/>
            </a:solidFill>
            <a:prstDash val="solid"/>
          </a:ln>
        </p:spPr>
      </p:sp>
      <p:sp>
        <p:nvSpPr>
          <p:cNvPr id="4" name="Text 1"/>
          <p:cNvSpPr/>
          <p:nvPr/>
        </p:nvSpPr>
        <p:spPr>
          <a:xfrm>
            <a:off x="5324044" y="713184"/>
            <a:ext cx="1057050" cy="139005"/>
          </a:xfrm>
          <a:prstGeom prst="rect">
            <a:avLst/>
          </a:prstGeom>
          <a:noFill/>
          <a:ln/>
        </p:spPr>
        <p:txBody>
          <a:bodyPr wrap="none" lIns="0" tIns="0" rIns="0" bIns="0" rtlCol="0" anchor="t"/>
          <a:lstStyle/>
          <a:p>
            <a:pPr marL="0" indent="0" algn="l">
              <a:lnSpc>
                <a:spcPct val="96000"/>
              </a:lnSpc>
              <a:buNone/>
            </a:pPr>
            <a:r>
              <a:rPr lang="en-US" sz="950" dirty="0">
                <a:solidFill>
                  <a:srgbClr val="4950BC"/>
                </a:solidFill>
                <a:latin typeface="Inter" pitchFamily="34" charset="0"/>
                <a:ea typeface="Inter" pitchFamily="34" charset="-122"/>
                <a:cs typeface="Inter" pitchFamily="34" charset="-120"/>
              </a:rPr>
              <a:t>SLIDE 6</a:t>
            </a:r>
            <a:endParaRPr lang="en-US" sz="950" dirty="0"/>
          </a:p>
        </p:txBody>
      </p:sp>
      <p:sp>
        <p:nvSpPr>
          <p:cNvPr id="5" name="Text 2"/>
          <p:cNvSpPr/>
          <p:nvPr/>
        </p:nvSpPr>
        <p:spPr>
          <a:xfrm>
            <a:off x="5233360" y="945852"/>
            <a:ext cx="6296860"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KPI Explanation</a:t>
            </a:r>
            <a:endParaRPr lang="en-US" sz="2950" dirty="0"/>
          </a:p>
        </p:txBody>
      </p:sp>
      <p:sp>
        <p:nvSpPr>
          <p:cNvPr id="6" name="Text 3"/>
          <p:cNvSpPr/>
          <p:nvPr/>
        </p:nvSpPr>
        <p:spPr>
          <a:xfrm>
            <a:off x="5233360" y="1599704"/>
            <a:ext cx="6296860"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The dashboard highlights six critical workforce metrics that provide management with a quick, accurate overview of organizational performance.</a:t>
            </a:r>
            <a:endParaRPr lang="en-US" sz="1150" dirty="0"/>
          </a:p>
        </p:txBody>
      </p:sp>
      <p:pic>
        <p:nvPicPr>
          <p:cNvPr id="7" name="Image 1" descr="preencoded.png"/>
          <p:cNvPicPr>
            <a:picLocks noChangeAspect="1"/>
          </p:cNvPicPr>
          <p:nvPr/>
        </p:nvPicPr>
        <p:blipFill>
          <a:blip r:embed="rId4"/>
          <a:stretch>
            <a:fillRect/>
          </a:stretch>
        </p:blipFill>
        <p:spPr>
          <a:xfrm>
            <a:off x="5233360" y="2171105"/>
            <a:ext cx="756028" cy="942578"/>
          </a:xfrm>
          <a:prstGeom prst="rect">
            <a:avLst/>
          </a:prstGeom>
        </p:spPr>
      </p:pic>
      <p:sp>
        <p:nvSpPr>
          <p:cNvPr id="8" name="Text 4"/>
          <p:cNvSpPr/>
          <p:nvPr/>
        </p:nvSpPr>
        <p:spPr>
          <a:xfrm>
            <a:off x="6110333" y="2171105"/>
            <a:ext cx="5419887" cy="283468"/>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Total Employees &amp; Employees Left</a:t>
            </a:r>
            <a:endParaRPr lang="en-US" sz="1750" dirty="0"/>
          </a:p>
        </p:txBody>
      </p:sp>
      <p:sp>
        <p:nvSpPr>
          <p:cNvPr id="9" name="Text 5"/>
          <p:cNvSpPr/>
          <p:nvPr/>
        </p:nvSpPr>
        <p:spPr>
          <a:xfrm>
            <a:off x="6110333" y="2527102"/>
            <a:ext cx="5419887"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Tracks the overall headcount and the number of employees who have exited the organization during the reporting period.</a:t>
            </a:r>
            <a:endParaRPr lang="en-US" sz="1150" dirty="0"/>
          </a:p>
        </p:txBody>
      </p:sp>
      <p:pic>
        <p:nvPicPr>
          <p:cNvPr id="10" name="Image 2" descr="preencoded.png"/>
          <p:cNvPicPr>
            <a:picLocks noChangeAspect="1"/>
          </p:cNvPicPr>
          <p:nvPr/>
        </p:nvPicPr>
        <p:blipFill>
          <a:blip r:embed="rId5"/>
          <a:stretch>
            <a:fillRect/>
          </a:stretch>
        </p:blipFill>
        <p:spPr>
          <a:xfrm>
            <a:off x="5233360" y="3264892"/>
            <a:ext cx="756028" cy="942578"/>
          </a:xfrm>
          <a:prstGeom prst="rect">
            <a:avLst/>
          </a:prstGeom>
        </p:spPr>
      </p:pic>
      <p:sp>
        <p:nvSpPr>
          <p:cNvPr id="11" name="Text 6"/>
          <p:cNvSpPr/>
          <p:nvPr/>
        </p:nvSpPr>
        <p:spPr>
          <a:xfrm>
            <a:off x="6110333" y="3264892"/>
            <a:ext cx="5419887" cy="283468"/>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Attrition Rate (%)</a:t>
            </a:r>
            <a:endParaRPr lang="en-US" sz="1750" dirty="0"/>
          </a:p>
        </p:txBody>
      </p:sp>
      <p:sp>
        <p:nvSpPr>
          <p:cNvPr id="12" name="Text 7"/>
          <p:cNvSpPr/>
          <p:nvPr/>
        </p:nvSpPr>
        <p:spPr>
          <a:xfrm>
            <a:off x="6110333" y="3620889"/>
            <a:ext cx="5419887"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The percentage of employees who left relative to the total workforce — the primary KPI for measuring retention performance.</a:t>
            </a:r>
            <a:endParaRPr lang="en-US" sz="1150" dirty="0"/>
          </a:p>
        </p:txBody>
      </p:sp>
      <p:pic>
        <p:nvPicPr>
          <p:cNvPr id="13" name="Image 3" descr="preencoded.png"/>
          <p:cNvPicPr>
            <a:picLocks noChangeAspect="1"/>
          </p:cNvPicPr>
          <p:nvPr/>
        </p:nvPicPr>
        <p:blipFill>
          <a:blip r:embed="rId6"/>
          <a:stretch>
            <a:fillRect/>
          </a:stretch>
        </p:blipFill>
        <p:spPr>
          <a:xfrm>
            <a:off x="5233360" y="4358680"/>
            <a:ext cx="756028" cy="1680170"/>
          </a:xfrm>
          <a:prstGeom prst="rect">
            <a:avLst/>
          </a:prstGeom>
        </p:spPr>
      </p:pic>
      <p:sp>
        <p:nvSpPr>
          <p:cNvPr id="14" name="Text 8"/>
          <p:cNvSpPr/>
          <p:nvPr/>
        </p:nvSpPr>
        <p:spPr>
          <a:xfrm>
            <a:off x="6110333" y="4358680"/>
            <a:ext cx="5419887" cy="283468"/>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Average Monthly Income, Age &amp; Tenure</a:t>
            </a:r>
            <a:endParaRPr lang="en-US" sz="1750" dirty="0"/>
          </a:p>
        </p:txBody>
      </p:sp>
      <p:sp>
        <p:nvSpPr>
          <p:cNvPr id="15" name="Text 9"/>
          <p:cNvSpPr/>
          <p:nvPr/>
        </p:nvSpPr>
        <p:spPr>
          <a:xfrm>
            <a:off x="6110333" y="4714677"/>
            <a:ext cx="5419887" cy="1172964"/>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Average Monthly Income — compensation benchmark across the workforce</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Average Employee Age — demographic indicator for workforce planning</a:t>
            </a:r>
            <a:endParaRPr lang="en-US" sz="1150" dirty="0"/>
          </a:p>
          <a:p>
            <a:pPr marL="233680" indent="-233680" algn="l">
              <a:lnSpc>
                <a:spcPct val="120000"/>
              </a:lnSpc>
              <a:buSzPct val="100000"/>
              <a:buChar char="•"/>
            </a:pPr>
            <a:r>
              <a:rPr lang="en-US" sz="1150" dirty="0">
                <a:solidFill>
                  <a:srgbClr val="272525"/>
                </a:solidFill>
                <a:latin typeface="Inter" pitchFamily="34" charset="0"/>
                <a:ea typeface="Inter" pitchFamily="34" charset="-122"/>
                <a:cs typeface="Inter" pitchFamily="34" charset="-120"/>
              </a:rPr>
              <a:t>Average Years at Company — measures workforce experience and loyalty</a:t>
            </a:r>
            <a:endParaRPr lang="en-US" sz="1150" dirty="0"/>
          </a:p>
        </p:txBody>
      </p:sp>
      <p:sp>
        <p:nvSpPr>
          <p:cNvPr id="16" name="Rounded Rectangle 15"/>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17" name="Image 0" descr="preencoded.png"/>
          <p:cNvPicPr>
            <a:picLocks noChangeAspect="1"/>
          </p:cNvPicPr>
          <p:nvPr/>
        </p:nvPicPr>
        <p:blipFill>
          <a:blip r:embed="rId7"/>
          <a:stretch>
            <a:fillRect/>
          </a:stretch>
        </p:blipFill>
        <p:spPr>
          <a:xfrm>
            <a:off x="11043460" y="6468145"/>
            <a:ext cx="1148539" cy="3575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55030"/>
            <a:ext cx="650561" cy="240308"/>
          </a:xfrm>
          <a:prstGeom prst="roundRect">
            <a:avLst>
              <a:gd name="adj" fmla="val 22113"/>
            </a:avLst>
          </a:prstGeom>
          <a:noFill/>
          <a:ln w="6350">
            <a:solidFill>
              <a:srgbClr val="4950BC"/>
            </a:solidFill>
            <a:prstDash val="solid"/>
          </a:ln>
        </p:spPr>
      </p:sp>
      <p:sp>
        <p:nvSpPr>
          <p:cNvPr id="3" name="Text 1"/>
          <p:cNvSpPr/>
          <p:nvPr/>
        </p:nvSpPr>
        <p:spPr>
          <a:xfrm>
            <a:off x="756326" y="602456"/>
            <a:ext cx="1070444" cy="145455"/>
          </a:xfrm>
          <a:prstGeom prst="rect">
            <a:avLst/>
          </a:prstGeom>
          <a:noFill/>
          <a:ln/>
        </p:spPr>
        <p:txBody>
          <a:bodyPr wrap="none" lIns="0" tIns="0" rIns="0" bIns="0" rtlCol="0" anchor="t"/>
          <a:lstStyle/>
          <a:p>
            <a:pPr marL="0" indent="0" algn="l">
              <a:lnSpc>
                <a:spcPct val="96000"/>
              </a:lnSpc>
              <a:buNone/>
            </a:pPr>
            <a:r>
              <a:rPr lang="en-US" sz="950" dirty="0">
                <a:solidFill>
                  <a:srgbClr val="4950BC"/>
                </a:solidFill>
                <a:latin typeface="Inter" pitchFamily="34" charset="0"/>
                <a:ea typeface="Inter" pitchFamily="34" charset="-122"/>
                <a:cs typeface="Inter" pitchFamily="34" charset="-120"/>
              </a:rPr>
              <a:t>SLIDE 7</a:t>
            </a:r>
            <a:endParaRPr lang="en-US" sz="950" dirty="0"/>
          </a:p>
        </p:txBody>
      </p:sp>
      <p:sp>
        <p:nvSpPr>
          <p:cNvPr id="4" name="Text 2"/>
          <p:cNvSpPr/>
          <p:nvPr/>
        </p:nvSpPr>
        <p:spPr>
          <a:xfrm>
            <a:off x="661475" y="848221"/>
            <a:ext cx="10868745" cy="494209"/>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Inter Bold" pitchFamily="34" charset="0"/>
                <a:ea typeface="Inter Bold" pitchFamily="34" charset="-122"/>
                <a:cs typeface="Inter Bold" pitchFamily="34" charset="-120"/>
              </a:rPr>
              <a:t>Key Insights</a:t>
            </a:r>
            <a:endParaRPr lang="en-US" sz="3100" dirty="0"/>
          </a:p>
        </p:txBody>
      </p:sp>
      <p:sp>
        <p:nvSpPr>
          <p:cNvPr id="5" name="Text 3"/>
          <p:cNvSpPr/>
          <p:nvPr/>
        </p:nvSpPr>
        <p:spPr>
          <a:xfrm>
            <a:off x="661475" y="1540867"/>
            <a:ext cx="11478330" cy="232370"/>
          </a:xfrm>
          <a:prstGeom prst="rect">
            <a:avLst/>
          </a:prstGeom>
          <a:noFill/>
          <a:ln/>
        </p:spPr>
        <p:txBody>
          <a:bodyPr wrap="none" lIns="0" tIns="0" rIns="0" bIns="0" rtlCol="0" anchor="t"/>
          <a:lstStyle/>
          <a:p>
            <a:pPr marL="0" indent="0" algn="l">
              <a:lnSpc>
                <a:spcPct val="122000"/>
              </a:lnSpc>
              <a:buNone/>
            </a:pPr>
            <a:r>
              <a:rPr lang="en-US" sz="1200" dirty="0">
                <a:solidFill>
                  <a:srgbClr val="272525"/>
                </a:solidFill>
                <a:latin typeface="Inter" pitchFamily="34" charset="0"/>
                <a:ea typeface="Inter" pitchFamily="34" charset="-122"/>
                <a:cs typeface="Inter" pitchFamily="34" charset="-120"/>
              </a:rPr>
              <a:t>The dashboard revealed several important workforce trends and patterns requiring immediate strategic attention.</a:t>
            </a:r>
            <a:endParaRPr lang="en-US" sz="1200" dirty="0"/>
          </a:p>
        </p:txBody>
      </p:sp>
      <p:sp>
        <p:nvSpPr>
          <p:cNvPr id="6" name="Shape 4"/>
          <p:cNvSpPr/>
          <p:nvPr/>
        </p:nvSpPr>
        <p:spPr>
          <a:xfrm>
            <a:off x="661475" y="4228703"/>
            <a:ext cx="10868745" cy="19050"/>
          </a:xfrm>
          <a:prstGeom prst="roundRect">
            <a:avLst>
              <a:gd name="adj" fmla="val 348689"/>
            </a:avLst>
          </a:prstGeom>
          <a:solidFill>
            <a:srgbClr val="C0C1D7"/>
          </a:solidFill>
          <a:ln/>
        </p:spPr>
      </p:sp>
      <p:sp>
        <p:nvSpPr>
          <p:cNvPr id="7" name="Shape 5"/>
          <p:cNvSpPr/>
          <p:nvPr/>
        </p:nvSpPr>
        <p:spPr>
          <a:xfrm>
            <a:off x="2145552" y="3754239"/>
            <a:ext cx="19050" cy="474464"/>
          </a:xfrm>
          <a:prstGeom prst="roundRect">
            <a:avLst>
              <a:gd name="adj" fmla="val 348689"/>
            </a:avLst>
          </a:prstGeom>
          <a:solidFill>
            <a:srgbClr val="C0C1D7"/>
          </a:solidFill>
          <a:ln/>
        </p:spPr>
      </p:sp>
      <p:sp>
        <p:nvSpPr>
          <p:cNvPr id="8" name="Shape 6"/>
          <p:cNvSpPr/>
          <p:nvPr/>
        </p:nvSpPr>
        <p:spPr>
          <a:xfrm>
            <a:off x="2095795" y="4169420"/>
            <a:ext cx="118563" cy="118566"/>
          </a:xfrm>
          <a:prstGeom prst="ellipse">
            <a:avLst/>
          </a:prstGeom>
          <a:solidFill>
            <a:srgbClr val="4950BC"/>
          </a:solidFill>
          <a:ln/>
        </p:spPr>
      </p:sp>
      <p:sp>
        <p:nvSpPr>
          <p:cNvPr id="9" name="Shape 7"/>
          <p:cNvSpPr/>
          <p:nvPr/>
        </p:nvSpPr>
        <p:spPr>
          <a:xfrm>
            <a:off x="661475" y="1922066"/>
            <a:ext cx="2987203" cy="1585020"/>
          </a:xfrm>
          <a:prstGeom prst="roundRect">
            <a:avLst>
              <a:gd name="adj" fmla="val 4191"/>
            </a:avLst>
          </a:prstGeom>
          <a:solidFill>
            <a:srgbClr val="DADBF1"/>
          </a:solidFill>
          <a:ln w="6350">
            <a:solidFill>
              <a:srgbClr val="C0C1D7"/>
            </a:solidFill>
            <a:prstDash val="solid"/>
          </a:ln>
        </p:spPr>
      </p:sp>
      <p:sp>
        <p:nvSpPr>
          <p:cNvPr id="10" name="Text 8"/>
          <p:cNvSpPr/>
          <p:nvPr/>
        </p:nvSpPr>
        <p:spPr>
          <a:xfrm>
            <a:off x="825975" y="2086570"/>
            <a:ext cx="2658202" cy="247154"/>
          </a:xfrm>
          <a:prstGeom prst="rect">
            <a:avLst/>
          </a:prstGeom>
          <a:noFill/>
          <a:ln/>
        </p:spPr>
        <p:txBody>
          <a:bodyPr wrap="none" lIns="0" tIns="0" rIns="0" bIns="0" rtlCol="0" anchor="t"/>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R&amp;D Has Highest Attrition</a:t>
            </a:r>
            <a:endParaRPr lang="en-US" sz="1550" dirty="0"/>
          </a:p>
        </p:txBody>
      </p:sp>
      <p:sp>
        <p:nvSpPr>
          <p:cNvPr id="11" name="Text 9"/>
          <p:cNvSpPr/>
          <p:nvPr/>
        </p:nvSpPr>
        <p:spPr>
          <a:xfrm>
            <a:off x="825975" y="2413099"/>
            <a:ext cx="2658202" cy="92948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Research &amp; Development recorded the highest employee attrition, indicating need for targeted retention.</a:t>
            </a:r>
            <a:endParaRPr lang="en-US" sz="1200" dirty="0"/>
          </a:p>
        </p:txBody>
      </p:sp>
      <p:sp>
        <p:nvSpPr>
          <p:cNvPr id="12" name="Shape 10"/>
          <p:cNvSpPr/>
          <p:nvPr/>
        </p:nvSpPr>
        <p:spPr>
          <a:xfrm>
            <a:off x="3721801" y="4228703"/>
            <a:ext cx="19050" cy="474464"/>
          </a:xfrm>
          <a:prstGeom prst="roundRect">
            <a:avLst>
              <a:gd name="adj" fmla="val 348689"/>
            </a:avLst>
          </a:prstGeom>
          <a:solidFill>
            <a:srgbClr val="C0C1D7"/>
          </a:solidFill>
          <a:ln/>
        </p:spPr>
      </p:sp>
      <p:sp>
        <p:nvSpPr>
          <p:cNvPr id="13" name="Shape 11"/>
          <p:cNvSpPr/>
          <p:nvPr/>
        </p:nvSpPr>
        <p:spPr>
          <a:xfrm>
            <a:off x="3672044" y="4169420"/>
            <a:ext cx="118563" cy="118566"/>
          </a:xfrm>
          <a:prstGeom prst="ellipse">
            <a:avLst/>
          </a:prstGeom>
          <a:solidFill>
            <a:srgbClr val="4950BC"/>
          </a:solidFill>
          <a:ln/>
        </p:spPr>
      </p:sp>
      <p:sp>
        <p:nvSpPr>
          <p:cNvPr id="14" name="Shape 12"/>
          <p:cNvSpPr/>
          <p:nvPr/>
        </p:nvSpPr>
        <p:spPr>
          <a:xfrm>
            <a:off x="2237724" y="4703167"/>
            <a:ext cx="2987203" cy="1585020"/>
          </a:xfrm>
          <a:prstGeom prst="roundRect">
            <a:avLst>
              <a:gd name="adj" fmla="val 4191"/>
            </a:avLst>
          </a:prstGeom>
          <a:solidFill>
            <a:srgbClr val="DADBF1"/>
          </a:solidFill>
          <a:ln w="6350">
            <a:solidFill>
              <a:srgbClr val="C0C1D7"/>
            </a:solidFill>
            <a:prstDash val="solid"/>
          </a:ln>
        </p:spPr>
      </p:sp>
      <p:sp>
        <p:nvSpPr>
          <p:cNvPr id="15" name="Text 13"/>
          <p:cNvSpPr/>
          <p:nvPr/>
        </p:nvSpPr>
        <p:spPr>
          <a:xfrm>
            <a:off x="2402224" y="4867672"/>
            <a:ext cx="2658202" cy="247154"/>
          </a:xfrm>
          <a:prstGeom prst="rect">
            <a:avLst/>
          </a:prstGeom>
          <a:noFill/>
          <a:ln/>
        </p:spPr>
        <p:txBody>
          <a:bodyPr wrap="none" lIns="0" tIns="0" rIns="0" bIns="0" rtlCol="0" anchor="t"/>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Gender Attrition Gap</a:t>
            </a:r>
            <a:endParaRPr lang="en-US" sz="1550" dirty="0"/>
          </a:p>
        </p:txBody>
      </p:sp>
      <p:sp>
        <p:nvSpPr>
          <p:cNvPr id="16" name="Text 14"/>
          <p:cNvSpPr/>
          <p:nvPr/>
        </p:nvSpPr>
        <p:spPr>
          <a:xfrm>
            <a:off x="2402224" y="5194201"/>
            <a:ext cx="2658202" cy="92948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Male employees experienced higher attrition rates compared to female employees across departments.</a:t>
            </a:r>
            <a:endParaRPr lang="en-US" sz="1200" dirty="0"/>
          </a:p>
        </p:txBody>
      </p:sp>
      <p:sp>
        <p:nvSpPr>
          <p:cNvPr id="17" name="Shape 15"/>
          <p:cNvSpPr/>
          <p:nvPr/>
        </p:nvSpPr>
        <p:spPr>
          <a:xfrm>
            <a:off x="5298149" y="3754239"/>
            <a:ext cx="19050" cy="474464"/>
          </a:xfrm>
          <a:prstGeom prst="roundRect">
            <a:avLst>
              <a:gd name="adj" fmla="val 348689"/>
            </a:avLst>
          </a:prstGeom>
          <a:solidFill>
            <a:srgbClr val="C0C1D7"/>
          </a:solidFill>
          <a:ln/>
        </p:spPr>
      </p:sp>
      <p:sp>
        <p:nvSpPr>
          <p:cNvPr id="18" name="Shape 16"/>
          <p:cNvSpPr/>
          <p:nvPr/>
        </p:nvSpPr>
        <p:spPr>
          <a:xfrm>
            <a:off x="5248392" y="4169420"/>
            <a:ext cx="118563" cy="118566"/>
          </a:xfrm>
          <a:prstGeom prst="ellipse">
            <a:avLst/>
          </a:prstGeom>
          <a:solidFill>
            <a:srgbClr val="4950BC"/>
          </a:solidFill>
          <a:ln/>
        </p:spPr>
      </p:sp>
      <p:sp>
        <p:nvSpPr>
          <p:cNvPr id="19" name="Shape 17"/>
          <p:cNvSpPr/>
          <p:nvPr/>
        </p:nvSpPr>
        <p:spPr>
          <a:xfrm>
            <a:off x="3814072" y="1922066"/>
            <a:ext cx="2987203" cy="1352649"/>
          </a:xfrm>
          <a:prstGeom prst="roundRect">
            <a:avLst>
              <a:gd name="adj" fmla="val 4911"/>
            </a:avLst>
          </a:prstGeom>
          <a:solidFill>
            <a:srgbClr val="DADBF1"/>
          </a:solidFill>
          <a:ln w="6350">
            <a:solidFill>
              <a:srgbClr val="C0C1D7"/>
            </a:solidFill>
            <a:prstDash val="solid"/>
          </a:ln>
        </p:spPr>
      </p:sp>
      <p:sp>
        <p:nvSpPr>
          <p:cNvPr id="20" name="Text 18"/>
          <p:cNvSpPr/>
          <p:nvPr/>
        </p:nvSpPr>
        <p:spPr>
          <a:xfrm>
            <a:off x="3978572" y="2086570"/>
            <a:ext cx="2658202" cy="247154"/>
          </a:xfrm>
          <a:prstGeom prst="rect">
            <a:avLst/>
          </a:prstGeom>
          <a:noFill/>
          <a:ln/>
        </p:spPr>
        <p:txBody>
          <a:bodyPr wrap="none" lIns="0" tIns="0" rIns="0" bIns="0" rtlCol="0" anchor="t"/>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Tenure &amp; Turnover Link</a:t>
            </a:r>
            <a:endParaRPr lang="en-US" sz="1550" dirty="0"/>
          </a:p>
        </p:txBody>
      </p:sp>
      <p:sp>
        <p:nvSpPr>
          <p:cNvPr id="21" name="Text 19"/>
          <p:cNvSpPr/>
          <p:nvPr/>
        </p:nvSpPr>
        <p:spPr>
          <a:xfrm>
            <a:off x="3978572" y="2413099"/>
            <a:ext cx="2658202" cy="69711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Employees with fewer years of service were significantly more likely to leave the organization.</a:t>
            </a:r>
            <a:endParaRPr lang="en-US" sz="1200" dirty="0"/>
          </a:p>
        </p:txBody>
      </p:sp>
      <p:sp>
        <p:nvSpPr>
          <p:cNvPr id="22" name="Shape 20"/>
          <p:cNvSpPr/>
          <p:nvPr/>
        </p:nvSpPr>
        <p:spPr>
          <a:xfrm>
            <a:off x="6874398" y="4228703"/>
            <a:ext cx="19050" cy="474464"/>
          </a:xfrm>
          <a:prstGeom prst="roundRect">
            <a:avLst>
              <a:gd name="adj" fmla="val 348689"/>
            </a:avLst>
          </a:prstGeom>
          <a:solidFill>
            <a:srgbClr val="C0C1D7"/>
          </a:solidFill>
          <a:ln/>
        </p:spPr>
      </p:sp>
      <p:sp>
        <p:nvSpPr>
          <p:cNvPr id="23" name="Shape 21"/>
          <p:cNvSpPr/>
          <p:nvPr/>
        </p:nvSpPr>
        <p:spPr>
          <a:xfrm>
            <a:off x="6824641" y="4169420"/>
            <a:ext cx="118563" cy="118566"/>
          </a:xfrm>
          <a:prstGeom prst="ellipse">
            <a:avLst/>
          </a:prstGeom>
          <a:solidFill>
            <a:srgbClr val="4950BC"/>
          </a:solidFill>
          <a:ln/>
        </p:spPr>
      </p:sp>
      <p:sp>
        <p:nvSpPr>
          <p:cNvPr id="24" name="Shape 22"/>
          <p:cNvSpPr/>
          <p:nvPr/>
        </p:nvSpPr>
        <p:spPr>
          <a:xfrm>
            <a:off x="5390321" y="4703167"/>
            <a:ext cx="2987203" cy="1599803"/>
          </a:xfrm>
          <a:prstGeom prst="roundRect">
            <a:avLst>
              <a:gd name="adj" fmla="val 4152"/>
            </a:avLst>
          </a:prstGeom>
          <a:solidFill>
            <a:srgbClr val="DADBF1"/>
          </a:solidFill>
          <a:ln w="6350">
            <a:solidFill>
              <a:srgbClr val="C0C1D7"/>
            </a:solidFill>
            <a:prstDash val="solid"/>
          </a:ln>
        </p:spPr>
      </p:sp>
      <p:sp>
        <p:nvSpPr>
          <p:cNvPr id="25" name="Text 23"/>
          <p:cNvSpPr/>
          <p:nvPr/>
        </p:nvSpPr>
        <p:spPr>
          <a:xfrm>
            <a:off x="5554821" y="4867672"/>
            <a:ext cx="2658202" cy="494308"/>
          </a:xfrm>
          <a:prstGeom prst="rect">
            <a:avLst/>
          </a:prstGeom>
          <a:noFill/>
          <a:ln/>
        </p:spPr>
        <p:txBody>
          <a:bodyPr wrap="square" lIns="0" tIns="0" rIns="0" bIns="0" rtlCol="0" anchor="t">
            <a:normAutofit/>
          </a:bodyPr>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Income Influences Retention</a:t>
            </a:r>
            <a:endParaRPr lang="en-US" sz="1550" dirty="0"/>
          </a:p>
        </p:txBody>
      </p:sp>
      <p:sp>
        <p:nvSpPr>
          <p:cNvPr id="26" name="Text 24"/>
          <p:cNvSpPr/>
          <p:nvPr/>
        </p:nvSpPr>
        <p:spPr>
          <a:xfrm>
            <a:off x="5554821" y="5441355"/>
            <a:ext cx="2658202" cy="69711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Employees with lower average monthly income showed notably higher turnover rates.</a:t>
            </a:r>
            <a:endParaRPr lang="en-US" sz="1200" dirty="0"/>
          </a:p>
        </p:txBody>
      </p:sp>
      <p:sp>
        <p:nvSpPr>
          <p:cNvPr id="27" name="Shape 25"/>
          <p:cNvSpPr/>
          <p:nvPr/>
        </p:nvSpPr>
        <p:spPr>
          <a:xfrm>
            <a:off x="8450746" y="3754239"/>
            <a:ext cx="19050" cy="474464"/>
          </a:xfrm>
          <a:prstGeom prst="roundRect">
            <a:avLst>
              <a:gd name="adj" fmla="val 348689"/>
            </a:avLst>
          </a:prstGeom>
          <a:solidFill>
            <a:srgbClr val="C0C1D7"/>
          </a:solidFill>
          <a:ln/>
        </p:spPr>
      </p:sp>
      <p:sp>
        <p:nvSpPr>
          <p:cNvPr id="28" name="Shape 26"/>
          <p:cNvSpPr/>
          <p:nvPr/>
        </p:nvSpPr>
        <p:spPr>
          <a:xfrm>
            <a:off x="8400989" y="4169420"/>
            <a:ext cx="118563" cy="118566"/>
          </a:xfrm>
          <a:prstGeom prst="ellipse">
            <a:avLst/>
          </a:prstGeom>
          <a:solidFill>
            <a:srgbClr val="4950BC"/>
          </a:solidFill>
          <a:ln/>
        </p:spPr>
      </p:sp>
      <p:sp>
        <p:nvSpPr>
          <p:cNvPr id="29" name="Shape 27"/>
          <p:cNvSpPr/>
          <p:nvPr/>
        </p:nvSpPr>
        <p:spPr>
          <a:xfrm>
            <a:off x="6966669" y="1922066"/>
            <a:ext cx="2987203" cy="1832173"/>
          </a:xfrm>
          <a:prstGeom prst="roundRect">
            <a:avLst>
              <a:gd name="adj" fmla="val 3625"/>
            </a:avLst>
          </a:prstGeom>
          <a:solidFill>
            <a:srgbClr val="DADBF1"/>
          </a:solidFill>
          <a:ln w="6350">
            <a:solidFill>
              <a:srgbClr val="C0C1D7"/>
            </a:solidFill>
            <a:prstDash val="solid"/>
          </a:ln>
        </p:spPr>
      </p:sp>
      <p:sp>
        <p:nvSpPr>
          <p:cNvPr id="30" name="Text 28"/>
          <p:cNvSpPr/>
          <p:nvPr/>
        </p:nvSpPr>
        <p:spPr>
          <a:xfrm>
            <a:off x="7131169" y="2086570"/>
            <a:ext cx="2658202" cy="494308"/>
          </a:xfrm>
          <a:prstGeom prst="rect">
            <a:avLst/>
          </a:prstGeom>
          <a:noFill/>
          <a:ln/>
        </p:spPr>
        <p:txBody>
          <a:bodyPr wrap="square" lIns="0" tIns="0" rIns="0" bIns="0" rtlCol="0" anchor="t">
            <a:normAutofit/>
          </a:bodyPr>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Young Employees Most At-Risk</a:t>
            </a:r>
            <a:endParaRPr lang="en-US" sz="1550" dirty="0"/>
          </a:p>
        </p:txBody>
      </p:sp>
      <p:sp>
        <p:nvSpPr>
          <p:cNvPr id="31" name="Text 29"/>
          <p:cNvSpPr/>
          <p:nvPr/>
        </p:nvSpPr>
        <p:spPr>
          <a:xfrm>
            <a:off x="7131169" y="2660253"/>
            <a:ext cx="2658202" cy="92948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Employees aged 18–35 years represented the largest attrition group, making early-career staff the most vulnerable.</a:t>
            </a:r>
            <a:endParaRPr lang="en-US" sz="1200" dirty="0"/>
          </a:p>
        </p:txBody>
      </p:sp>
      <p:sp>
        <p:nvSpPr>
          <p:cNvPr id="32" name="Shape 30"/>
          <p:cNvSpPr/>
          <p:nvPr/>
        </p:nvSpPr>
        <p:spPr>
          <a:xfrm>
            <a:off x="10026994" y="4228703"/>
            <a:ext cx="19050" cy="474464"/>
          </a:xfrm>
          <a:prstGeom prst="roundRect">
            <a:avLst>
              <a:gd name="adj" fmla="val 348689"/>
            </a:avLst>
          </a:prstGeom>
          <a:solidFill>
            <a:srgbClr val="C0C1D7"/>
          </a:solidFill>
          <a:ln/>
        </p:spPr>
      </p:sp>
      <p:sp>
        <p:nvSpPr>
          <p:cNvPr id="33" name="Shape 31"/>
          <p:cNvSpPr/>
          <p:nvPr/>
        </p:nvSpPr>
        <p:spPr>
          <a:xfrm>
            <a:off x="9977238" y="4169420"/>
            <a:ext cx="118563" cy="118566"/>
          </a:xfrm>
          <a:prstGeom prst="ellipse">
            <a:avLst/>
          </a:prstGeom>
          <a:solidFill>
            <a:srgbClr val="4950BC"/>
          </a:solidFill>
          <a:ln/>
        </p:spPr>
      </p:sp>
      <p:sp>
        <p:nvSpPr>
          <p:cNvPr id="34" name="Shape 32"/>
          <p:cNvSpPr/>
          <p:nvPr/>
        </p:nvSpPr>
        <p:spPr>
          <a:xfrm>
            <a:off x="8542918" y="4703167"/>
            <a:ext cx="2987203" cy="1585020"/>
          </a:xfrm>
          <a:prstGeom prst="roundRect">
            <a:avLst>
              <a:gd name="adj" fmla="val 4191"/>
            </a:avLst>
          </a:prstGeom>
          <a:solidFill>
            <a:srgbClr val="DADBF1"/>
          </a:solidFill>
          <a:ln w="6350">
            <a:solidFill>
              <a:srgbClr val="C0C1D7"/>
            </a:solidFill>
            <a:prstDash val="solid"/>
          </a:ln>
        </p:spPr>
      </p:sp>
      <p:sp>
        <p:nvSpPr>
          <p:cNvPr id="35" name="Text 33"/>
          <p:cNvSpPr/>
          <p:nvPr/>
        </p:nvSpPr>
        <p:spPr>
          <a:xfrm>
            <a:off x="8707418" y="4867672"/>
            <a:ext cx="2658202" cy="247154"/>
          </a:xfrm>
          <a:prstGeom prst="rect">
            <a:avLst/>
          </a:prstGeom>
          <a:noFill/>
          <a:ln/>
        </p:spPr>
        <p:txBody>
          <a:bodyPr wrap="none" lIns="0" tIns="0" rIns="0" bIns="0" rtlCol="0" anchor="t"/>
          <a:lstStyle/>
          <a:p>
            <a:pPr marL="0" indent="0" algn="ctr">
              <a:lnSpc>
                <a:spcPct val="104000"/>
              </a:lnSpc>
              <a:buNone/>
            </a:pPr>
            <a:r>
              <a:rPr lang="en-US" sz="1550" b="1" dirty="0">
                <a:solidFill>
                  <a:srgbClr val="272525"/>
                </a:solidFill>
                <a:latin typeface="Inter Bold" pitchFamily="34" charset="0"/>
                <a:ea typeface="Inter Bold" pitchFamily="34" charset="-122"/>
                <a:cs typeface="Inter Bold" pitchFamily="34" charset="-120"/>
              </a:rPr>
              <a:t>Role &amp; Overtime Impact</a:t>
            </a:r>
            <a:endParaRPr lang="en-US" sz="1550" dirty="0"/>
          </a:p>
        </p:txBody>
      </p:sp>
      <p:sp>
        <p:nvSpPr>
          <p:cNvPr id="36" name="Text 34"/>
          <p:cNvSpPr/>
          <p:nvPr/>
        </p:nvSpPr>
        <p:spPr>
          <a:xfrm>
            <a:off x="8707418" y="5194201"/>
            <a:ext cx="2658202" cy="929481"/>
          </a:xfrm>
          <a:prstGeom prst="rect">
            <a:avLst/>
          </a:prstGeom>
          <a:noFill/>
          <a:ln/>
        </p:spPr>
        <p:txBody>
          <a:bodyPr wrap="square" lIns="0" tIns="0" rIns="0" bIns="0" rtlCol="0" anchor="t">
            <a:normAutofit/>
          </a:bodyPr>
          <a:lstStyle/>
          <a:p>
            <a:pPr marL="0" indent="0" algn="ctr">
              <a:lnSpc>
                <a:spcPct val="122000"/>
              </a:lnSpc>
              <a:buNone/>
            </a:pPr>
            <a:r>
              <a:rPr lang="en-US" sz="1200" dirty="0">
                <a:solidFill>
                  <a:srgbClr val="272525"/>
                </a:solidFill>
                <a:latin typeface="Inter" pitchFamily="34" charset="0"/>
                <a:ea typeface="Inter" pitchFamily="34" charset="-122"/>
                <a:cs typeface="Inter" pitchFamily="34" charset="-120"/>
              </a:rPr>
              <a:t>Certain job roles and employees with high overtime recorded significantly elevated turnover rates.</a:t>
            </a:r>
            <a:endParaRPr lang="en-US" sz="1200" dirty="0"/>
          </a:p>
        </p:txBody>
      </p:sp>
      <p:sp>
        <p:nvSpPr>
          <p:cNvPr id="37" name="Rounded Rectangle 36"/>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38" name="Image 0" descr="preencoded.png"/>
          <p:cNvPicPr>
            <a:picLocks noChangeAspect="1"/>
          </p:cNvPicPr>
          <p:nvPr/>
        </p:nvPicPr>
        <p:blipFill>
          <a:blip r:embed="rId3"/>
          <a:stretch>
            <a:fillRect/>
          </a:stretch>
        </p:blipFill>
        <p:spPr>
          <a:xfrm>
            <a:off x="11043460" y="6468145"/>
            <a:ext cx="1148539" cy="3575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604341"/>
            <a:ext cx="628733" cy="229691"/>
          </a:xfrm>
          <a:prstGeom prst="roundRect">
            <a:avLst>
              <a:gd name="adj" fmla="val 22120"/>
            </a:avLst>
          </a:prstGeom>
          <a:noFill/>
          <a:ln w="6350">
            <a:solidFill>
              <a:srgbClr val="4950BC"/>
            </a:solidFill>
            <a:prstDash val="solid"/>
          </a:ln>
        </p:spPr>
      </p:sp>
      <p:sp>
        <p:nvSpPr>
          <p:cNvPr id="3" name="Text 1"/>
          <p:cNvSpPr/>
          <p:nvPr/>
        </p:nvSpPr>
        <p:spPr>
          <a:xfrm>
            <a:off x="752159" y="649684"/>
            <a:ext cx="1056951" cy="139005"/>
          </a:xfrm>
          <a:prstGeom prst="rect">
            <a:avLst/>
          </a:prstGeom>
          <a:noFill/>
          <a:ln/>
        </p:spPr>
        <p:txBody>
          <a:bodyPr wrap="none" lIns="0" tIns="0" rIns="0" bIns="0" rtlCol="0" anchor="t"/>
          <a:lstStyle/>
          <a:p>
            <a:pPr marL="0" indent="0" algn="l">
              <a:lnSpc>
                <a:spcPct val="96000"/>
              </a:lnSpc>
              <a:buNone/>
            </a:pPr>
            <a:r>
              <a:rPr lang="en-US" sz="950" dirty="0">
                <a:solidFill>
                  <a:srgbClr val="4950BC"/>
                </a:solidFill>
                <a:latin typeface="Inter" pitchFamily="34" charset="0"/>
                <a:ea typeface="Inter" pitchFamily="34" charset="-122"/>
                <a:cs typeface="Inter" pitchFamily="34" charset="-120"/>
              </a:rPr>
              <a:t>SLIDE 8</a:t>
            </a:r>
            <a:endParaRPr lang="en-US" sz="950" dirty="0"/>
          </a:p>
        </p:txBody>
      </p:sp>
      <p:sp>
        <p:nvSpPr>
          <p:cNvPr id="4" name="Text 2"/>
          <p:cNvSpPr/>
          <p:nvPr/>
        </p:nvSpPr>
        <p:spPr>
          <a:xfrm>
            <a:off x="661475" y="882352"/>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Business Recommendations</a:t>
            </a:r>
            <a:endParaRPr lang="en-US" sz="2950" dirty="0"/>
          </a:p>
        </p:txBody>
      </p:sp>
      <p:sp>
        <p:nvSpPr>
          <p:cNvPr id="5" name="Text 3"/>
          <p:cNvSpPr/>
          <p:nvPr/>
        </p:nvSpPr>
        <p:spPr>
          <a:xfrm>
            <a:off x="661475" y="1536204"/>
            <a:ext cx="11478330" cy="217686"/>
          </a:xfrm>
          <a:prstGeom prst="rect">
            <a:avLst/>
          </a:prstGeom>
          <a:noFill/>
          <a:ln/>
        </p:spPr>
        <p:txBody>
          <a:bodyPr wrap="none" lIns="0" tIns="0" rIns="0" bIns="0" rtlCol="0" anchor="t"/>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Based on the dashboard analysis, the following strategic actions are recommended to reduce attrition and improve workforce stability.</a:t>
            </a:r>
            <a:endParaRPr lang="en-US" sz="1150" dirty="0"/>
          </a:p>
        </p:txBody>
      </p:sp>
      <p:sp>
        <p:nvSpPr>
          <p:cNvPr id="6" name="Shape 4"/>
          <p:cNvSpPr/>
          <p:nvPr/>
        </p:nvSpPr>
        <p:spPr>
          <a:xfrm>
            <a:off x="6086323" y="1889919"/>
            <a:ext cx="19050" cy="4363641"/>
          </a:xfrm>
          <a:prstGeom prst="roundRect">
            <a:avLst>
              <a:gd name="adj" fmla="val 333387"/>
            </a:avLst>
          </a:prstGeom>
          <a:solidFill>
            <a:srgbClr val="C0C1D7"/>
          </a:solidFill>
          <a:ln/>
        </p:spPr>
      </p:sp>
      <p:sp>
        <p:nvSpPr>
          <p:cNvPr id="7" name="Shape 5"/>
          <p:cNvSpPr/>
          <p:nvPr/>
        </p:nvSpPr>
        <p:spPr>
          <a:xfrm>
            <a:off x="5491174" y="2050455"/>
            <a:ext cx="453617" cy="19050"/>
          </a:xfrm>
          <a:prstGeom prst="roundRect">
            <a:avLst>
              <a:gd name="adj" fmla="val 333387"/>
            </a:avLst>
          </a:prstGeom>
          <a:solidFill>
            <a:srgbClr val="C0C1D7"/>
          </a:solidFill>
          <a:ln/>
        </p:spPr>
      </p:sp>
      <p:sp>
        <p:nvSpPr>
          <p:cNvPr id="8" name="Shape 6"/>
          <p:cNvSpPr/>
          <p:nvPr/>
        </p:nvSpPr>
        <p:spPr>
          <a:xfrm>
            <a:off x="5925741" y="1889919"/>
            <a:ext cx="340213" cy="340221"/>
          </a:xfrm>
          <a:prstGeom prst="roundRect">
            <a:avLst>
              <a:gd name="adj" fmla="val 18668"/>
            </a:avLst>
          </a:prstGeom>
          <a:solidFill>
            <a:srgbClr val="DADBF1"/>
          </a:solidFill>
          <a:ln w="6350">
            <a:solidFill>
              <a:srgbClr val="C0C1D7"/>
            </a:solidFill>
            <a:prstDash val="solid"/>
          </a:ln>
        </p:spPr>
      </p:sp>
      <p:sp>
        <p:nvSpPr>
          <p:cNvPr id="9" name="Text 7"/>
          <p:cNvSpPr/>
          <p:nvPr/>
        </p:nvSpPr>
        <p:spPr>
          <a:xfrm>
            <a:off x="5982394" y="1918246"/>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272525"/>
                </a:solidFill>
                <a:latin typeface="Inter Bold" pitchFamily="34" charset="0"/>
                <a:ea typeface="Inter Bold" pitchFamily="34" charset="-122"/>
                <a:cs typeface="Inter Bold" pitchFamily="34" charset="-120"/>
              </a:rPr>
              <a:t>1</a:t>
            </a:r>
            <a:endParaRPr lang="en-US" sz="1750" dirty="0"/>
          </a:p>
        </p:txBody>
      </p:sp>
      <p:sp>
        <p:nvSpPr>
          <p:cNvPr id="10" name="Text 8"/>
          <p:cNvSpPr/>
          <p:nvPr/>
        </p:nvSpPr>
        <p:spPr>
          <a:xfrm>
            <a:off x="661475" y="1941810"/>
            <a:ext cx="4678345" cy="236240"/>
          </a:xfrm>
          <a:prstGeom prst="rect">
            <a:avLst/>
          </a:prstGeom>
          <a:noFill/>
          <a:ln/>
        </p:spPr>
        <p:txBody>
          <a:bodyPr wrap="none" lIns="0" tIns="0" rIns="0" bIns="0" rtlCol="0" anchor="t"/>
          <a:lstStyle/>
          <a:p>
            <a:pPr marL="0" indent="0" algn="r">
              <a:lnSpc>
                <a:spcPct val="104000"/>
              </a:lnSpc>
              <a:buNone/>
            </a:pPr>
            <a:r>
              <a:rPr lang="en-US" sz="1450" b="1" dirty="0">
                <a:solidFill>
                  <a:srgbClr val="272525"/>
                </a:solidFill>
                <a:latin typeface="Inter Bold" pitchFamily="34" charset="0"/>
                <a:ea typeface="Inter Bold" pitchFamily="34" charset="-122"/>
                <a:cs typeface="Inter Bold" pitchFamily="34" charset="-120"/>
              </a:rPr>
              <a:t>Strengthen Employee Engagement</a:t>
            </a:r>
            <a:endParaRPr lang="en-US" sz="1450" dirty="0"/>
          </a:p>
        </p:txBody>
      </p:sp>
      <p:sp>
        <p:nvSpPr>
          <p:cNvPr id="11" name="Text 9"/>
          <p:cNvSpPr/>
          <p:nvPr/>
        </p:nvSpPr>
        <p:spPr>
          <a:xfrm>
            <a:off x="661475" y="2250579"/>
            <a:ext cx="4678345" cy="435372"/>
          </a:xfrm>
          <a:prstGeom prst="rect">
            <a:avLst/>
          </a:prstGeom>
          <a:noFill/>
          <a:ln/>
        </p:spPr>
        <p:txBody>
          <a:bodyPr wrap="square" lIns="0" tIns="0" rIns="0" bIns="0" rtlCol="0" anchor="t">
            <a:normAutofit/>
          </a:bodyPr>
          <a:lstStyle/>
          <a:p>
            <a:pPr marL="0" indent="0" algn="r">
              <a:lnSpc>
                <a:spcPct val="120000"/>
              </a:lnSpc>
              <a:buNone/>
            </a:pPr>
            <a:r>
              <a:rPr lang="en-US" sz="1150" dirty="0">
                <a:solidFill>
                  <a:srgbClr val="272525"/>
                </a:solidFill>
                <a:latin typeface="Inter" pitchFamily="34" charset="0"/>
                <a:ea typeface="Inter" pitchFamily="34" charset="-122"/>
                <a:cs typeface="Inter" pitchFamily="34" charset="-120"/>
              </a:rPr>
              <a:t>Improve workplace satisfaction and commitment through structured engagement programs and regular feedback loops.</a:t>
            </a:r>
            <a:endParaRPr lang="en-US" sz="1150" dirty="0"/>
          </a:p>
        </p:txBody>
      </p:sp>
      <p:sp>
        <p:nvSpPr>
          <p:cNvPr id="12" name="Shape 10"/>
          <p:cNvSpPr/>
          <p:nvPr/>
        </p:nvSpPr>
        <p:spPr>
          <a:xfrm>
            <a:off x="6246904" y="2897188"/>
            <a:ext cx="453617" cy="19050"/>
          </a:xfrm>
          <a:prstGeom prst="roundRect">
            <a:avLst>
              <a:gd name="adj" fmla="val 333387"/>
            </a:avLst>
          </a:prstGeom>
          <a:solidFill>
            <a:srgbClr val="C0C1D7"/>
          </a:solidFill>
          <a:ln/>
        </p:spPr>
      </p:sp>
      <p:sp>
        <p:nvSpPr>
          <p:cNvPr id="13" name="Shape 11"/>
          <p:cNvSpPr/>
          <p:nvPr/>
        </p:nvSpPr>
        <p:spPr>
          <a:xfrm>
            <a:off x="5925741" y="2736652"/>
            <a:ext cx="340213" cy="340221"/>
          </a:xfrm>
          <a:prstGeom prst="roundRect">
            <a:avLst>
              <a:gd name="adj" fmla="val 18668"/>
            </a:avLst>
          </a:prstGeom>
          <a:solidFill>
            <a:srgbClr val="DADBF1"/>
          </a:solidFill>
          <a:ln w="6350">
            <a:solidFill>
              <a:srgbClr val="C0C1D7"/>
            </a:solidFill>
            <a:prstDash val="solid"/>
          </a:ln>
        </p:spPr>
      </p:sp>
      <p:sp>
        <p:nvSpPr>
          <p:cNvPr id="14" name="Text 12"/>
          <p:cNvSpPr/>
          <p:nvPr/>
        </p:nvSpPr>
        <p:spPr>
          <a:xfrm>
            <a:off x="5982394" y="2764979"/>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272525"/>
                </a:solidFill>
                <a:latin typeface="Inter Bold" pitchFamily="34" charset="0"/>
                <a:ea typeface="Inter Bold" pitchFamily="34" charset="-122"/>
                <a:cs typeface="Inter Bold" pitchFamily="34" charset="-120"/>
              </a:rPr>
              <a:t>2</a:t>
            </a:r>
            <a:endParaRPr lang="en-US" sz="1750" dirty="0"/>
          </a:p>
        </p:txBody>
      </p:sp>
      <p:sp>
        <p:nvSpPr>
          <p:cNvPr id="15" name="Text 13"/>
          <p:cNvSpPr/>
          <p:nvPr/>
        </p:nvSpPr>
        <p:spPr>
          <a:xfrm>
            <a:off x="6851875" y="2788543"/>
            <a:ext cx="4678345" cy="236240"/>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Inter Bold" pitchFamily="34" charset="0"/>
                <a:ea typeface="Inter Bold" pitchFamily="34" charset="-122"/>
                <a:cs typeface="Inter Bold" pitchFamily="34" charset="-120"/>
              </a:rPr>
              <a:t>Reduce Excessive Overtime</a:t>
            </a:r>
            <a:endParaRPr lang="en-US" sz="1450" dirty="0"/>
          </a:p>
        </p:txBody>
      </p:sp>
      <p:sp>
        <p:nvSpPr>
          <p:cNvPr id="16" name="Text 14"/>
          <p:cNvSpPr/>
          <p:nvPr/>
        </p:nvSpPr>
        <p:spPr>
          <a:xfrm>
            <a:off x="6851875" y="3097312"/>
            <a:ext cx="4678345"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Balance workloads and promote healthier work-life balance to lower burnout-driven attrition.</a:t>
            </a:r>
            <a:endParaRPr lang="en-US" sz="1150" dirty="0"/>
          </a:p>
        </p:txBody>
      </p:sp>
      <p:sp>
        <p:nvSpPr>
          <p:cNvPr id="17" name="Shape 15"/>
          <p:cNvSpPr/>
          <p:nvPr/>
        </p:nvSpPr>
        <p:spPr>
          <a:xfrm>
            <a:off x="5491174" y="3648869"/>
            <a:ext cx="453617" cy="19050"/>
          </a:xfrm>
          <a:prstGeom prst="roundRect">
            <a:avLst>
              <a:gd name="adj" fmla="val 333387"/>
            </a:avLst>
          </a:prstGeom>
          <a:solidFill>
            <a:srgbClr val="C0C1D7"/>
          </a:solidFill>
          <a:ln/>
        </p:spPr>
      </p:sp>
      <p:sp>
        <p:nvSpPr>
          <p:cNvPr id="18" name="Shape 16"/>
          <p:cNvSpPr/>
          <p:nvPr/>
        </p:nvSpPr>
        <p:spPr>
          <a:xfrm>
            <a:off x="5925741" y="3488333"/>
            <a:ext cx="340213" cy="340221"/>
          </a:xfrm>
          <a:prstGeom prst="roundRect">
            <a:avLst>
              <a:gd name="adj" fmla="val 18668"/>
            </a:avLst>
          </a:prstGeom>
          <a:solidFill>
            <a:srgbClr val="DADBF1"/>
          </a:solidFill>
          <a:ln w="6350">
            <a:solidFill>
              <a:srgbClr val="C0C1D7"/>
            </a:solidFill>
            <a:prstDash val="solid"/>
          </a:ln>
        </p:spPr>
      </p:sp>
      <p:sp>
        <p:nvSpPr>
          <p:cNvPr id="19" name="Text 17"/>
          <p:cNvSpPr/>
          <p:nvPr/>
        </p:nvSpPr>
        <p:spPr>
          <a:xfrm>
            <a:off x="5982394" y="3516660"/>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272525"/>
                </a:solidFill>
                <a:latin typeface="Inter Bold" pitchFamily="34" charset="0"/>
                <a:ea typeface="Inter Bold" pitchFamily="34" charset="-122"/>
                <a:cs typeface="Inter Bold" pitchFamily="34" charset="-120"/>
              </a:rPr>
              <a:t>3</a:t>
            </a:r>
            <a:endParaRPr lang="en-US" sz="1750" dirty="0"/>
          </a:p>
        </p:txBody>
      </p:sp>
      <p:sp>
        <p:nvSpPr>
          <p:cNvPr id="20" name="Text 18"/>
          <p:cNvSpPr/>
          <p:nvPr/>
        </p:nvSpPr>
        <p:spPr>
          <a:xfrm>
            <a:off x="661475" y="3540224"/>
            <a:ext cx="4678345" cy="236240"/>
          </a:xfrm>
          <a:prstGeom prst="rect">
            <a:avLst/>
          </a:prstGeom>
          <a:noFill/>
          <a:ln/>
        </p:spPr>
        <p:txBody>
          <a:bodyPr wrap="none" lIns="0" tIns="0" rIns="0" bIns="0" rtlCol="0" anchor="t"/>
          <a:lstStyle/>
          <a:p>
            <a:pPr marL="0" indent="0" algn="r">
              <a:lnSpc>
                <a:spcPct val="104000"/>
              </a:lnSpc>
              <a:buNone/>
            </a:pPr>
            <a:r>
              <a:rPr lang="en-US" sz="1450" b="1" dirty="0">
                <a:solidFill>
                  <a:srgbClr val="272525"/>
                </a:solidFill>
                <a:latin typeface="Inter Bold" pitchFamily="34" charset="0"/>
                <a:ea typeface="Inter Bold" pitchFamily="34" charset="-122"/>
                <a:cs typeface="Inter Bold" pitchFamily="34" charset="-120"/>
              </a:rPr>
              <a:t>Expand Career Development</a:t>
            </a:r>
            <a:endParaRPr lang="en-US" sz="1450" dirty="0"/>
          </a:p>
        </p:txBody>
      </p:sp>
      <p:sp>
        <p:nvSpPr>
          <p:cNvPr id="21" name="Text 19"/>
          <p:cNvSpPr/>
          <p:nvPr/>
        </p:nvSpPr>
        <p:spPr>
          <a:xfrm>
            <a:off x="661475" y="3848993"/>
            <a:ext cx="4678345" cy="435372"/>
          </a:xfrm>
          <a:prstGeom prst="rect">
            <a:avLst/>
          </a:prstGeom>
          <a:noFill/>
          <a:ln/>
        </p:spPr>
        <p:txBody>
          <a:bodyPr wrap="square" lIns="0" tIns="0" rIns="0" bIns="0" rtlCol="0" anchor="t">
            <a:normAutofit/>
          </a:bodyPr>
          <a:lstStyle/>
          <a:p>
            <a:pPr marL="0" indent="0" algn="r">
              <a:lnSpc>
                <a:spcPct val="120000"/>
              </a:lnSpc>
              <a:buNone/>
            </a:pPr>
            <a:r>
              <a:rPr lang="en-US" sz="1150" dirty="0">
                <a:solidFill>
                  <a:srgbClr val="272525"/>
                </a:solidFill>
                <a:latin typeface="Inter" pitchFamily="34" charset="0"/>
                <a:ea typeface="Inter" pitchFamily="34" charset="-122"/>
                <a:cs typeface="Inter" pitchFamily="34" charset="-120"/>
              </a:rPr>
              <a:t>Provide structured training, mentorship pathways, and clear promotion opportunities for all employees.</a:t>
            </a:r>
            <a:endParaRPr lang="en-US" sz="1150" dirty="0"/>
          </a:p>
        </p:txBody>
      </p:sp>
      <p:sp>
        <p:nvSpPr>
          <p:cNvPr id="22" name="Shape 20"/>
          <p:cNvSpPr/>
          <p:nvPr/>
        </p:nvSpPr>
        <p:spPr>
          <a:xfrm>
            <a:off x="6246904" y="4400649"/>
            <a:ext cx="453617" cy="19050"/>
          </a:xfrm>
          <a:prstGeom prst="roundRect">
            <a:avLst>
              <a:gd name="adj" fmla="val 333387"/>
            </a:avLst>
          </a:prstGeom>
          <a:solidFill>
            <a:srgbClr val="C0C1D7"/>
          </a:solidFill>
          <a:ln/>
        </p:spPr>
      </p:sp>
      <p:sp>
        <p:nvSpPr>
          <p:cNvPr id="23" name="Shape 21"/>
          <p:cNvSpPr/>
          <p:nvPr/>
        </p:nvSpPr>
        <p:spPr>
          <a:xfrm>
            <a:off x="5925741" y="4240113"/>
            <a:ext cx="340213" cy="340221"/>
          </a:xfrm>
          <a:prstGeom prst="roundRect">
            <a:avLst>
              <a:gd name="adj" fmla="val 18668"/>
            </a:avLst>
          </a:prstGeom>
          <a:solidFill>
            <a:srgbClr val="DADBF1"/>
          </a:solidFill>
          <a:ln w="6350">
            <a:solidFill>
              <a:srgbClr val="C0C1D7"/>
            </a:solidFill>
            <a:prstDash val="solid"/>
          </a:ln>
        </p:spPr>
      </p:sp>
      <p:sp>
        <p:nvSpPr>
          <p:cNvPr id="24" name="Text 22"/>
          <p:cNvSpPr/>
          <p:nvPr/>
        </p:nvSpPr>
        <p:spPr>
          <a:xfrm>
            <a:off x="5982394" y="4268440"/>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272525"/>
                </a:solidFill>
                <a:latin typeface="Inter Bold" pitchFamily="34" charset="0"/>
                <a:ea typeface="Inter Bold" pitchFamily="34" charset="-122"/>
                <a:cs typeface="Inter Bold" pitchFamily="34" charset="-120"/>
              </a:rPr>
              <a:t>4</a:t>
            </a:r>
            <a:endParaRPr lang="en-US" sz="1750" dirty="0"/>
          </a:p>
        </p:txBody>
      </p:sp>
      <p:sp>
        <p:nvSpPr>
          <p:cNvPr id="25" name="Text 23"/>
          <p:cNvSpPr/>
          <p:nvPr/>
        </p:nvSpPr>
        <p:spPr>
          <a:xfrm>
            <a:off x="6851875" y="4292005"/>
            <a:ext cx="4678345" cy="236240"/>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Inter Bold" pitchFamily="34" charset="0"/>
                <a:ea typeface="Inter Bold" pitchFamily="34" charset="-122"/>
                <a:cs typeface="Inter Bold" pitchFamily="34" charset="-120"/>
              </a:rPr>
              <a:t>Competitive Retention Incentives</a:t>
            </a:r>
            <a:endParaRPr lang="en-US" sz="1450" dirty="0"/>
          </a:p>
        </p:txBody>
      </p:sp>
      <p:sp>
        <p:nvSpPr>
          <p:cNvPr id="26" name="Text 24"/>
          <p:cNvSpPr/>
          <p:nvPr/>
        </p:nvSpPr>
        <p:spPr>
          <a:xfrm>
            <a:off x="6851875" y="4600773"/>
            <a:ext cx="4678345"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272525"/>
                </a:solidFill>
                <a:latin typeface="Inter" pitchFamily="34" charset="0"/>
                <a:ea typeface="Inter" pitchFamily="34" charset="-122"/>
                <a:cs typeface="Inter" pitchFamily="34" charset="-120"/>
              </a:rPr>
              <a:t>Introduce recognition programs, performance-based rewards, and review compensation for high-risk departments.</a:t>
            </a:r>
            <a:endParaRPr lang="en-US" sz="1150" dirty="0"/>
          </a:p>
        </p:txBody>
      </p:sp>
      <p:sp>
        <p:nvSpPr>
          <p:cNvPr id="27" name="Shape 25"/>
          <p:cNvSpPr/>
          <p:nvPr/>
        </p:nvSpPr>
        <p:spPr>
          <a:xfrm>
            <a:off x="5491174" y="5152430"/>
            <a:ext cx="453617" cy="19050"/>
          </a:xfrm>
          <a:prstGeom prst="roundRect">
            <a:avLst>
              <a:gd name="adj" fmla="val 333387"/>
            </a:avLst>
          </a:prstGeom>
          <a:solidFill>
            <a:srgbClr val="C0C1D7"/>
          </a:solidFill>
          <a:ln/>
        </p:spPr>
      </p:sp>
      <p:sp>
        <p:nvSpPr>
          <p:cNvPr id="28" name="Shape 26"/>
          <p:cNvSpPr/>
          <p:nvPr/>
        </p:nvSpPr>
        <p:spPr>
          <a:xfrm>
            <a:off x="5925741" y="4991894"/>
            <a:ext cx="340213" cy="340221"/>
          </a:xfrm>
          <a:prstGeom prst="roundRect">
            <a:avLst>
              <a:gd name="adj" fmla="val 18668"/>
            </a:avLst>
          </a:prstGeom>
          <a:solidFill>
            <a:srgbClr val="DADBF1"/>
          </a:solidFill>
          <a:ln w="6350">
            <a:solidFill>
              <a:srgbClr val="C0C1D7"/>
            </a:solidFill>
            <a:prstDash val="solid"/>
          </a:ln>
        </p:spPr>
      </p:sp>
      <p:sp>
        <p:nvSpPr>
          <p:cNvPr id="29" name="Text 27"/>
          <p:cNvSpPr/>
          <p:nvPr/>
        </p:nvSpPr>
        <p:spPr>
          <a:xfrm>
            <a:off x="5982394" y="5020221"/>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272525"/>
                </a:solidFill>
                <a:latin typeface="Inter Bold" pitchFamily="34" charset="0"/>
                <a:ea typeface="Inter Bold" pitchFamily="34" charset="-122"/>
                <a:cs typeface="Inter Bold" pitchFamily="34" charset="-120"/>
              </a:rPr>
              <a:t>5</a:t>
            </a:r>
            <a:endParaRPr lang="en-US" sz="1750" dirty="0"/>
          </a:p>
        </p:txBody>
      </p:sp>
      <p:sp>
        <p:nvSpPr>
          <p:cNvPr id="30" name="Text 28"/>
          <p:cNvSpPr/>
          <p:nvPr/>
        </p:nvSpPr>
        <p:spPr>
          <a:xfrm>
            <a:off x="661475" y="5043785"/>
            <a:ext cx="4678345" cy="236240"/>
          </a:xfrm>
          <a:prstGeom prst="rect">
            <a:avLst/>
          </a:prstGeom>
          <a:noFill/>
          <a:ln/>
        </p:spPr>
        <p:txBody>
          <a:bodyPr wrap="none" lIns="0" tIns="0" rIns="0" bIns="0" rtlCol="0" anchor="t"/>
          <a:lstStyle/>
          <a:p>
            <a:pPr marL="0" indent="0" algn="r">
              <a:lnSpc>
                <a:spcPct val="104000"/>
              </a:lnSpc>
              <a:buNone/>
            </a:pPr>
            <a:r>
              <a:rPr lang="en-US" sz="1450" b="1" dirty="0">
                <a:solidFill>
                  <a:srgbClr val="272525"/>
                </a:solidFill>
                <a:latin typeface="Inter Bold" pitchFamily="34" charset="0"/>
                <a:ea typeface="Inter Bold" pitchFamily="34" charset="-122"/>
                <a:cs typeface="Inter Bold" pitchFamily="34" charset="-120"/>
              </a:rPr>
              <a:t>Conduct Satisfaction Surveys &amp; Exit Interviews</a:t>
            </a:r>
            <a:endParaRPr lang="en-US" sz="1450" dirty="0"/>
          </a:p>
        </p:txBody>
      </p:sp>
      <p:sp>
        <p:nvSpPr>
          <p:cNvPr id="31" name="Text 29"/>
          <p:cNvSpPr/>
          <p:nvPr/>
        </p:nvSpPr>
        <p:spPr>
          <a:xfrm>
            <a:off x="661475" y="5352554"/>
            <a:ext cx="4678345" cy="435372"/>
          </a:xfrm>
          <a:prstGeom prst="rect">
            <a:avLst/>
          </a:prstGeom>
          <a:noFill/>
          <a:ln/>
        </p:spPr>
        <p:txBody>
          <a:bodyPr wrap="square" lIns="0" tIns="0" rIns="0" bIns="0" rtlCol="0" anchor="t">
            <a:normAutofit/>
          </a:bodyPr>
          <a:lstStyle/>
          <a:p>
            <a:pPr marL="0" indent="0" algn="r">
              <a:lnSpc>
                <a:spcPct val="120000"/>
              </a:lnSpc>
              <a:buNone/>
            </a:pPr>
            <a:r>
              <a:rPr lang="en-US" sz="1150" dirty="0">
                <a:solidFill>
                  <a:srgbClr val="272525"/>
                </a:solidFill>
                <a:latin typeface="Inter" pitchFamily="34" charset="0"/>
                <a:ea typeface="Inter" pitchFamily="34" charset="-122"/>
                <a:cs typeface="Inter" pitchFamily="34" charset="-120"/>
              </a:rPr>
              <a:t>Identify concerns before they lead to resignations and develop targeted strategies for younger employees.</a:t>
            </a:r>
            <a:endParaRPr lang="en-US" sz="1150" dirty="0"/>
          </a:p>
        </p:txBody>
      </p:sp>
      <p:sp>
        <p:nvSpPr>
          <p:cNvPr id="32" name="Rounded Rectangle 31"/>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33" name="Image 0" descr="preencoded.png"/>
          <p:cNvPicPr>
            <a:picLocks noChangeAspect="1"/>
          </p:cNvPicPr>
          <p:nvPr/>
        </p:nvPicPr>
        <p:blipFill>
          <a:blip r:embed="rId3"/>
          <a:stretch>
            <a:fillRect/>
          </a:stretch>
        </p:blipFill>
        <p:spPr>
          <a:xfrm>
            <a:off x="11043460" y="6468145"/>
            <a:ext cx="1142677" cy="3575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759222"/>
            <a:ext cx="707313" cy="258465"/>
          </a:xfrm>
          <a:prstGeom prst="roundRect">
            <a:avLst>
              <a:gd name="adj" fmla="val 22115"/>
            </a:avLst>
          </a:prstGeom>
          <a:noFill/>
          <a:ln w="6350">
            <a:solidFill>
              <a:srgbClr val="4950BC"/>
            </a:solidFill>
            <a:prstDash val="solid"/>
          </a:ln>
        </p:spPr>
      </p:sp>
      <p:sp>
        <p:nvSpPr>
          <p:cNvPr id="3" name="Text 1"/>
          <p:cNvSpPr/>
          <p:nvPr/>
        </p:nvSpPr>
        <p:spPr>
          <a:xfrm>
            <a:off x="763469" y="810220"/>
            <a:ext cx="1112909" cy="156468"/>
          </a:xfrm>
          <a:prstGeom prst="rect">
            <a:avLst/>
          </a:prstGeom>
          <a:noFill/>
          <a:ln/>
        </p:spPr>
        <p:txBody>
          <a:bodyPr wrap="none" lIns="0" tIns="0" rIns="0" bIns="0" rtlCol="0" anchor="t"/>
          <a:lstStyle/>
          <a:p>
            <a:pPr marL="0" indent="0" algn="l">
              <a:lnSpc>
                <a:spcPct val="96000"/>
              </a:lnSpc>
              <a:buNone/>
            </a:pPr>
            <a:r>
              <a:rPr lang="en-US" sz="1050" dirty="0">
                <a:solidFill>
                  <a:srgbClr val="4950BC"/>
                </a:solidFill>
                <a:latin typeface="Inter" pitchFamily="34" charset="0"/>
                <a:ea typeface="Inter" pitchFamily="34" charset="-122"/>
                <a:cs typeface="Inter" pitchFamily="34" charset="-120"/>
              </a:rPr>
              <a:t>SLIDE 9</a:t>
            </a:r>
            <a:endParaRPr lang="en-US" sz="1050" dirty="0"/>
          </a:p>
        </p:txBody>
      </p:sp>
      <p:sp>
        <p:nvSpPr>
          <p:cNvPr id="4" name="Text 2"/>
          <p:cNvSpPr/>
          <p:nvPr/>
        </p:nvSpPr>
        <p:spPr>
          <a:xfrm>
            <a:off x="661475" y="1078905"/>
            <a:ext cx="10868745" cy="531614"/>
          </a:xfrm>
          <a:prstGeom prst="rect">
            <a:avLst/>
          </a:prstGeom>
          <a:noFill/>
          <a:ln/>
        </p:spPr>
        <p:txBody>
          <a:bodyPr wrap="none" lIns="0" tIns="0" rIns="0" bIns="0" rtlCol="0" anchor="t"/>
          <a:lstStyle/>
          <a:p>
            <a:pPr marL="0" indent="0" algn="l">
              <a:lnSpc>
                <a:spcPct val="104000"/>
              </a:lnSpc>
              <a:buNone/>
            </a:pPr>
            <a:r>
              <a:rPr lang="en-US" sz="3300" b="1" dirty="0">
                <a:solidFill>
                  <a:srgbClr val="000000"/>
                </a:solidFill>
                <a:latin typeface="Inter Bold" pitchFamily="34" charset="0"/>
                <a:ea typeface="Inter Bold" pitchFamily="34" charset="-122"/>
                <a:cs typeface="Inter Bold" pitchFamily="34" charset="-120"/>
              </a:rPr>
              <a:t>Future Scope</a:t>
            </a:r>
            <a:endParaRPr lang="en-US" sz="3300" dirty="0"/>
          </a:p>
        </p:txBody>
      </p:sp>
      <p:sp>
        <p:nvSpPr>
          <p:cNvPr id="5" name="Text 3"/>
          <p:cNvSpPr/>
          <p:nvPr/>
        </p:nvSpPr>
        <p:spPr>
          <a:xfrm>
            <a:off x="661475" y="1840111"/>
            <a:ext cx="11478330" cy="258564"/>
          </a:xfrm>
          <a:prstGeom prst="rect">
            <a:avLst/>
          </a:prstGeom>
          <a:noFill/>
          <a:ln/>
        </p:spPr>
        <p:txBody>
          <a:bodyPr wrap="none" lIns="0" tIns="0" rIns="0" bIns="0" rtlCol="0" anchor="t"/>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The dashboard can be further enhanced with advanced analytical capabilities to support proactive and predictive HR decision-making.</a:t>
            </a:r>
            <a:endParaRPr lang="en-US" sz="1300" dirty="0"/>
          </a:p>
        </p:txBody>
      </p:sp>
      <p:sp>
        <p:nvSpPr>
          <p:cNvPr id="6" name="Shape 4"/>
          <p:cNvSpPr/>
          <p:nvPr/>
        </p:nvSpPr>
        <p:spPr>
          <a:xfrm>
            <a:off x="661475" y="2270919"/>
            <a:ext cx="5357778" cy="510282"/>
          </a:xfrm>
          <a:prstGeom prst="roundRect">
            <a:avLst>
              <a:gd name="adj" fmla="val 480063"/>
            </a:avLst>
          </a:prstGeom>
          <a:solidFill>
            <a:srgbClr val="DADBF1"/>
          </a:solidFill>
          <a:ln w="6350">
            <a:solidFill>
              <a:srgbClr val="C0C1D7"/>
            </a:solidFill>
            <a:prstDash val="solid"/>
          </a:ln>
        </p:spPr>
      </p:sp>
      <p:pic>
        <p:nvPicPr>
          <p:cNvPr id="7"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3212821" y="2398415"/>
            <a:ext cx="255085" cy="255091"/>
          </a:xfrm>
          <a:prstGeom prst="rect">
            <a:avLst/>
          </a:prstGeom>
        </p:spPr>
      </p:pic>
      <p:sp>
        <p:nvSpPr>
          <p:cNvPr id="8" name="Text 5"/>
          <p:cNvSpPr/>
          <p:nvPr/>
        </p:nvSpPr>
        <p:spPr>
          <a:xfrm>
            <a:off x="831532" y="2934295"/>
            <a:ext cx="5017664"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Live HR Database Integration</a:t>
            </a:r>
            <a:endParaRPr lang="en-US" sz="1650" dirty="0"/>
          </a:p>
        </p:txBody>
      </p:sp>
      <p:sp>
        <p:nvSpPr>
          <p:cNvPr id="9" name="Text 6"/>
          <p:cNvSpPr/>
          <p:nvPr/>
        </p:nvSpPr>
        <p:spPr>
          <a:xfrm>
            <a:off x="831532" y="3291780"/>
            <a:ext cx="50176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Connect to live HR systems for real-time workforce monitoring and automatic data refresh with scheduled reporting.</a:t>
            </a:r>
            <a:endParaRPr lang="en-US" sz="1300" dirty="0"/>
          </a:p>
        </p:txBody>
      </p:sp>
      <p:sp>
        <p:nvSpPr>
          <p:cNvPr id="10" name="Shape 7"/>
          <p:cNvSpPr/>
          <p:nvPr/>
        </p:nvSpPr>
        <p:spPr>
          <a:xfrm>
            <a:off x="6172343" y="2270919"/>
            <a:ext cx="5357877" cy="510282"/>
          </a:xfrm>
          <a:prstGeom prst="roundRect">
            <a:avLst>
              <a:gd name="adj" fmla="val 480063"/>
            </a:avLst>
          </a:prstGeom>
          <a:solidFill>
            <a:srgbClr val="DADBF1"/>
          </a:solidFill>
          <a:ln w="6350">
            <a:solidFill>
              <a:srgbClr val="C0C1D7"/>
            </a:solidFill>
            <a:prstDash val="solid"/>
          </a:ln>
        </p:spPr>
      </p:sp>
      <p:pic>
        <p:nvPicPr>
          <p:cNvPr id="11" name="Image 1" descr="preencoded.png"/>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8723690" y="2398415"/>
            <a:ext cx="255085" cy="255091"/>
          </a:xfrm>
          <a:prstGeom prst="rect">
            <a:avLst/>
          </a:prstGeom>
        </p:spPr>
      </p:pic>
      <p:sp>
        <p:nvSpPr>
          <p:cNvPr id="12" name="Text 8"/>
          <p:cNvSpPr/>
          <p:nvPr/>
        </p:nvSpPr>
        <p:spPr>
          <a:xfrm>
            <a:off x="6342400" y="2934295"/>
            <a:ext cx="5017764"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ML Attrition Prediction</a:t>
            </a:r>
            <a:endParaRPr lang="en-US" sz="1650" dirty="0"/>
          </a:p>
        </p:txBody>
      </p:sp>
      <p:sp>
        <p:nvSpPr>
          <p:cNvPr id="13" name="Text 9"/>
          <p:cNvSpPr/>
          <p:nvPr/>
        </p:nvSpPr>
        <p:spPr>
          <a:xfrm>
            <a:off x="6342400" y="3291780"/>
            <a:ext cx="50177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Implement machine learning models to predict employee attrition risk and proactively identify high-risk individuals.</a:t>
            </a:r>
            <a:endParaRPr lang="en-US" sz="1300" dirty="0"/>
          </a:p>
        </p:txBody>
      </p:sp>
      <p:sp>
        <p:nvSpPr>
          <p:cNvPr id="14" name="Shape 10"/>
          <p:cNvSpPr/>
          <p:nvPr/>
        </p:nvSpPr>
        <p:spPr>
          <a:xfrm>
            <a:off x="661475" y="4132064"/>
            <a:ext cx="5357778" cy="510282"/>
          </a:xfrm>
          <a:prstGeom prst="roundRect">
            <a:avLst>
              <a:gd name="adj" fmla="val 480063"/>
            </a:avLst>
          </a:prstGeom>
          <a:solidFill>
            <a:srgbClr val="DADBF1"/>
          </a:solidFill>
          <a:ln w="6350">
            <a:solidFill>
              <a:srgbClr val="C0C1D7"/>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3212821" y="4259560"/>
            <a:ext cx="255085" cy="255091"/>
          </a:xfrm>
          <a:prstGeom prst="rect">
            <a:avLst/>
          </a:prstGeom>
        </p:spPr>
      </p:pic>
      <p:sp>
        <p:nvSpPr>
          <p:cNvPr id="16" name="Text 11"/>
          <p:cNvSpPr/>
          <p:nvPr/>
        </p:nvSpPr>
        <p:spPr>
          <a:xfrm>
            <a:off x="831532" y="4795441"/>
            <a:ext cx="5017664"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Expanded Metrics</a:t>
            </a:r>
            <a:endParaRPr lang="en-US" sz="1650" dirty="0"/>
          </a:p>
        </p:txBody>
      </p:sp>
      <p:sp>
        <p:nvSpPr>
          <p:cNvPr id="17" name="Text 12"/>
          <p:cNvSpPr/>
          <p:nvPr/>
        </p:nvSpPr>
        <p:spPr>
          <a:xfrm>
            <a:off x="831532" y="5152926"/>
            <a:ext cx="5017664"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Include employee performance, attendance, productivity, training, and engagement data for a more comprehensive analysis.</a:t>
            </a:r>
            <a:endParaRPr lang="en-US" sz="1300" dirty="0"/>
          </a:p>
        </p:txBody>
      </p:sp>
      <p:sp>
        <p:nvSpPr>
          <p:cNvPr id="18" name="Shape 13"/>
          <p:cNvSpPr/>
          <p:nvPr/>
        </p:nvSpPr>
        <p:spPr>
          <a:xfrm>
            <a:off x="6172343" y="4132064"/>
            <a:ext cx="5357877" cy="510282"/>
          </a:xfrm>
          <a:prstGeom prst="roundRect">
            <a:avLst>
              <a:gd name="adj" fmla="val 480063"/>
            </a:avLst>
          </a:prstGeom>
          <a:solidFill>
            <a:srgbClr val="DADBF1"/>
          </a:solidFill>
          <a:ln w="6350">
            <a:solidFill>
              <a:srgbClr val="C0C1D7"/>
            </a:solidFill>
            <a:prstDash val="solid"/>
          </a:ln>
        </p:spPr>
      </p:sp>
      <p:pic>
        <p:nvPicPr>
          <p:cNvPr id="19" name="Image 3" descr="preencoded.png"/>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8723690" y="4259560"/>
            <a:ext cx="255085" cy="255091"/>
          </a:xfrm>
          <a:prstGeom prst="rect">
            <a:avLst/>
          </a:prstGeom>
        </p:spPr>
      </p:pic>
      <p:sp>
        <p:nvSpPr>
          <p:cNvPr id="20" name="Text 14"/>
          <p:cNvSpPr/>
          <p:nvPr/>
        </p:nvSpPr>
        <p:spPr>
          <a:xfrm>
            <a:off x="6342400" y="4795441"/>
            <a:ext cx="5017764" cy="265708"/>
          </a:xfrm>
          <a:prstGeom prst="rect">
            <a:avLst/>
          </a:prstGeom>
          <a:noFill/>
          <a:ln/>
        </p:spPr>
        <p:txBody>
          <a:bodyPr wrap="none" lIns="0" tIns="0" rIns="0" bIns="0" rtlCol="0" anchor="t"/>
          <a:lstStyle/>
          <a:p>
            <a:pPr marL="0" indent="0" algn="l">
              <a:lnSpc>
                <a:spcPct val="104000"/>
              </a:lnSpc>
              <a:buNone/>
            </a:pPr>
            <a:r>
              <a:rPr lang="en-US" sz="1650" b="1" dirty="0">
                <a:solidFill>
                  <a:srgbClr val="272525"/>
                </a:solidFill>
                <a:latin typeface="Inter Bold" pitchFamily="34" charset="0"/>
                <a:ea typeface="Inter Bold" pitchFamily="34" charset="-122"/>
                <a:cs typeface="Inter Bold" pitchFamily="34" charset="-120"/>
              </a:rPr>
              <a:t>Predictive &amp; Mobile Analytics</a:t>
            </a:r>
            <a:endParaRPr lang="en-US" sz="1650" dirty="0"/>
          </a:p>
        </p:txBody>
      </p:sp>
      <p:sp>
        <p:nvSpPr>
          <p:cNvPr id="21" name="Text 15"/>
          <p:cNvSpPr/>
          <p:nvPr/>
        </p:nvSpPr>
        <p:spPr>
          <a:xfrm>
            <a:off x="6342400" y="5152926"/>
            <a:ext cx="50177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Develop predictive and prescriptive analytics, automated HR reports, and mobile-friendly dashboard versions.</a:t>
            </a:r>
            <a:endParaRPr lang="en-US" sz="1300" dirty="0"/>
          </a:p>
        </p:txBody>
      </p:sp>
      <p:sp>
        <p:nvSpPr>
          <p:cNvPr id="22" name="Rounded Rectangle 21"/>
          <p:cNvSpPr/>
          <p:nvPr/>
        </p:nvSpPr>
        <p:spPr>
          <a:xfrm>
            <a:off x="11055435" y="6550269"/>
            <a:ext cx="1136565" cy="21980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23" name="Image 0" descr="preencoded.png"/>
          <p:cNvPicPr>
            <a:picLocks noChangeAspect="1"/>
          </p:cNvPicPr>
          <p:nvPr/>
        </p:nvPicPr>
        <p:blipFill>
          <a:blip r:embed="rId11"/>
          <a:stretch>
            <a:fillRect/>
          </a:stretch>
        </p:blipFill>
        <p:spPr>
          <a:xfrm>
            <a:off x="11043460" y="6468145"/>
            <a:ext cx="1148539" cy="357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126456"/>
          </a:xfrm>
          <a:prstGeom prst="rect">
            <a:avLst/>
          </a:prstGeom>
        </p:spPr>
      </p:pic>
      <p:sp>
        <p:nvSpPr>
          <p:cNvPr id="3" name="Text 0"/>
          <p:cNvSpPr/>
          <p:nvPr/>
        </p:nvSpPr>
        <p:spPr>
          <a:xfrm>
            <a:off x="661475" y="2791023"/>
            <a:ext cx="10868745" cy="733524"/>
          </a:xfrm>
          <a:prstGeom prst="rect">
            <a:avLst/>
          </a:prstGeom>
          <a:noFill/>
          <a:ln/>
        </p:spPr>
        <p:txBody>
          <a:bodyPr wrap="none" lIns="0" tIns="0" rIns="0" bIns="0" rtlCol="0" anchor="t"/>
          <a:lstStyle/>
          <a:p>
            <a:pPr marL="0" indent="0" algn="l">
              <a:lnSpc>
                <a:spcPct val="104000"/>
              </a:lnSpc>
              <a:buNone/>
            </a:pPr>
            <a:r>
              <a:rPr lang="en-US" sz="4600" b="1" dirty="0">
                <a:solidFill>
                  <a:srgbClr val="FFFFFF"/>
                </a:solidFill>
                <a:latin typeface="Inter Bold" pitchFamily="34" charset="0"/>
                <a:ea typeface="Inter Bold" pitchFamily="34" charset="-122"/>
                <a:cs typeface="Inter Bold" pitchFamily="34" charset="-120"/>
              </a:rPr>
              <a:t>Thank You</a:t>
            </a:r>
            <a:endParaRPr lang="en-US" sz="4600" dirty="0"/>
          </a:p>
        </p:txBody>
      </p:sp>
      <p:sp>
        <p:nvSpPr>
          <p:cNvPr id="4" name="Text 1"/>
          <p:cNvSpPr/>
          <p:nvPr/>
        </p:nvSpPr>
        <p:spPr>
          <a:xfrm>
            <a:off x="661475" y="3754140"/>
            <a:ext cx="11478330" cy="258564"/>
          </a:xfrm>
          <a:prstGeom prst="rect">
            <a:avLst/>
          </a:prstGeom>
          <a:noFill/>
          <a:ln/>
        </p:spPr>
        <p:txBody>
          <a:bodyPr wrap="none" lIns="0" tIns="0" rIns="0" bIns="0" rtlCol="0" anchor="t"/>
          <a:lstStyle/>
          <a:p>
            <a:pPr marL="0" indent="0" algn="l">
              <a:lnSpc>
                <a:spcPct val="127000"/>
              </a:lnSpc>
              <a:buNone/>
            </a:pPr>
            <a:endParaRPr lang="en-US" sz="1300" dirty="0"/>
          </a:p>
        </p:txBody>
      </p:sp>
      <p:sp>
        <p:nvSpPr>
          <p:cNvPr id="5" name="Text 2"/>
          <p:cNvSpPr/>
          <p:nvPr/>
        </p:nvSpPr>
        <p:spPr>
          <a:xfrm>
            <a:off x="661475" y="4242296"/>
            <a:ext cx="10868745" cy="425252"/>
          </a:xfrm>
          <a:prstGeom prst="rect">
            <a:avLst/>
          </a:prstGeom>
          <a:noFill/>
          <a:ln/>
        </p:spPr>
        <p:txBody>
          <a:bodyPr wrap="none" lIns="0" tIns="0" rIns="0" bIns="0" rtlCol="0" anchor="t"/>
          <a:lstStyle/>
          <a:p>
            <a:pPr marL="0" indent="0" algn="l">
              <a:lnSpc>
                <a:spcPct val="104000"/>
              </a:lnSpc>
              <a:buNone/>
            </a:pPr>
            <a:r>
              <a:rPr lang="en-US" sz="2650" b="1" dirty="0">
                <a:solidFill>
                  <a:srgbClr val="000000"/>
                </a:solidFill>
                <a:latin typeface="Inter Bold" pitchFamily="34" charset="0"/>
                <a:ea typeface="Inter Bold" pitchFamily="34" charset="-122"/>
                <a:cs typeface="Inter Bold" pitchFamily="34" charset="-120"/>
              </a:rPr>
              <a:t>Questions &amp; Discussion</a:t>
            </a:r>
            <a:endParaRPr lang="en-US" sz="2650" dirty="0"/>
          </a:p>
        </p:txBody>
      </p:sp>
      <p:sp>
        <p:nvSpPr>
          <p:cNvPr id="6" name="Shape 3"/>
          <p:cNvSpPr/>
          <p:nvPr/>
        </p:nvSpPr>
        <p:spPr>
          <a:xfrm>
            <a:off x="661475" y="5167114"/>
            <a:ext cx="10868745" cy="19050"/>
          </a:xfrm>
          <a:prstGeom prst="rect">
            <a:avLst/>
          </a:prstGeom>
          <a:solidFill>
            <a:srgbClr val="4950BC"/>
          </a:solidFill>
          <a:ln/>
        </p:spPr>
      </p:sp>
      <p:sp>
        <p:nvSpPr>
          <p:cNvPr id="7" name="Text 4"/>
          <p:cNvSpPr/>
          <p:nvPr/>
        </p:nvSpPr>
        <p:spPr>
          <a:xfrm>
            <a:off x="661475" y="5290245"/>
            <a:ext cx="10868745"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272525"/>
                </a:solidFill>
                <a:latin typeface="Inter" pitchFamily="34" charset="0"/>
                <a:ea typeface="Inter" pitchFamily="34" charset="-122"/>
                <a:cs typeface="Inter" pitchFamily="34" charset="-120"/>
              </a:rPr>
              <a:t>This HR Employee Attrition Dashboard transforms raw HR data into meaningful business intelligence, empowering organizations to reduce turnover, improve engagement, and build a more productive workforce. </a:t>
            </a:r>
            <a:r>
              <a:rPr lang="en-US" sz="1300" b="1" dirty="0">
                <a:solidFill>
                  <a:srgbClr val="272525"/>
                </a:solidFill>
                <a:latin typeface="Inter Bold" pitchFamily="34" charset="0"/>
                <a:ea typeface="Inter Bold" pitchFamily="34" charset="-122"/>
                <a:cs typeface="Inter Bold" pitchFamily="34" charset="-120"/>
              </a:rPr>
              <a:t>Submitted by FaaiQ ShieKh — Data Analytics Internship.</a:t>
            </a:r>
            <a:endParaRPr lang="en-US" sz="1300" dirty="0"/>
          </a:p>
        </p:txBody>
      </p:sp>
      <p:sp>
        <p:nvSpPr>
          <p:cNvPr id="8" name="Rounded Rectangle 7"/>
          <p:cNvSpPr/>
          <p:nvPr/>
        </p:nvSpPr>
        <p:spPr>
          <a:xfrm>
            <a:off x="11055435" y="6594231"/>
            <a:ext cx="1136565" cy="175846"/>
          </a:xfrm>
          <a:prstGeom prst="roundRect">
            <a:avLst/>
          </a:prstGeom>
          <a:ln/>
        </p:spPr>
        <p:style>
          <a:lnRef idx="2">
            <a:schemeClr val="accent3"/>
          </a:lnRef>
          <a:fillRef idx="1001">
            <a:schemeClr val="lt1"/>
          </a:fillRef>
          <a:effectRef idx="0">
            <a:schemeClr val="accent3"/>
          </a:effectRef>
          <a:fontRef idx="minor">
            <a:schemeClr val="dk1"/>
          </a:fontRef>
        </p:style>
        <p:txBody>
          <a:bodyPr rtlCol="0" anchor="ctr"/>
          <a:lstStyle/>
          <a:p>
            <a:pPr algn="ctr"/>
            <a:endParaRPr lang="en-US">
              <a:solidFill>
                <a:schemeClr val="bg1"/>
              </a:solidFill>
            </a:endParaRPr>
          </a:p>
        </p:txBody>
      </p:sp>
      <p:pic>
        <p:nvPicPr>
          <p:cNvPr id="9" name="Image 0" descr="preencoded.png"/>
          <p:cNvPicPr>
            <a:picLocks noChangeAspect="1"/>
          </p:cNvPicPr>
          <p:nvPr/>
        </p:nvPicPr>
        <p:blipFill>
          <a:blip r:embed="rId4"/>
          <a:stretch>
            <a:fillRect/>
          </a:stretch>
        </p:blipFill>
        <p:spPr>
          <a:xfrm>
            <a:off x="11043460" y="6468145"/>
            <a:ext cx="1148539" cy="3575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880</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Arial</vt:lpstr>
      <vt:lpstr>Inter Bold</vt:lpstr>
      <vt:lpstr>Inter</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FaaIQ ShieKh</cp:lastModifiedBy>
  <cp:revision>2</cp:revision>
  <dcterms:created xsi:type="dcterms:W3CDTF">2026-07-14T20:27:36Z</dcterms:created>
  <dcterms:modified xsi:type="dcterms:W3CDTF">2026-07-14T20:33:35Z</dcterms:modified>
</cp:coreProperties>
</file>