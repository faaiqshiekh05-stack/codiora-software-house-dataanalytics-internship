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obile" panose="020B0604020202020204" charset="0"/>
      <p:regular r:id="rId13"/>
    </p:embeddedFont>
    <p:embeddedFont>
      <p:font typeface="Nobile Bold" panose="020B0604020202020204" charset="0"/>
      <p:regular r:id="rId14"/>
    </p:embeddedFont>
    <p:embeddedFont>
      <p:font typeface="Fraunces ExtraBold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Fraunces Light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6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2021" y="-1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95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-2-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-3.svg"/><Relationship Id="rId5" Type="http://schemas.openxmlformats.org/officeDocument/2006/relationships/image" Target="../media/image-2-3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5-4.svg"/><Relationship Id="rId5" Type="http://schemas.openxmlformats.org/officeDocument/2006/relationships/image" Target="../media/image7.png"/><Relationship Id="rId4" Type="http://schemas.openxmlformats.org/officeDocument/2006/relationships/image" Target="../media/image-5-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-6-7.svg"/><Relationship Id="rId3" Type="http://schemas.openxmlformats.org/officeDocument/2006/relationships/image" Target="../media/image9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6-3.svg"/><Relationship Id="rId5" Type="http://schemas.openxmlformats.org/officeDocument/2006/relationships/image" Target="../media/image-6-3.svg"/><Relationship Id="rId4" Type="http://schemas.openxmlformats.org/officeDocument/2006/relationships/image" Target="../media/image10.png"/><Relationship Id="rId9" Type="http://schemas.openxmlformats.org/officeDocument/2006/relationships/image" Target="../media/image-6-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-7-6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openxmlformats.org/officeDocument/2006/relationships/image" Target="../media/image-7-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7-4.svg"/><Relationship Id="rId11" Type="http://schemas.openxmlformats.org/officeDocument/2006/relationships/image" Target="../media/image-7-6.svg"/><Relationship Id="rId5" Type="http://schemas.openxmlformats.org/officeDocument/2006/relationships/image" Target="../media/image13.png"/><Relationship Id="rId10" Type="http://schemas.openxmlformats.org/officeDocument/2006/relationships/image" Target="../media/image-7-8.svg"/><Relationship Id="rId4" Type="http://schemas.openxmlformats.org/officeDocument/2006/relationships/image" Target="../media/image-7-2.sv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-9-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9-3.svg"/><Relationship Id="rId11" Type="http://schemas.openxmlformats.org/officeDocument/2006/relationships/image" Target="../media/image-9-3.svg"/><Relationship Id="rId5" Type="http://schemas.openxmlformats.org/officeDocument/2006/relationships/image" Target="../media/image-9-3.svg"/><Relationship Id="rId4" Type="http://schemas.openxmlformats.org/officeDocument/2006/relationships/image" Target="../media/image17.png"/><Relationship Id="rId9" Type="http://schemas.openxmlformats.org/officeDocument/2006/relationships/image" Target="../media/image-9-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10-4.svg"/><Relationship Id="rId5" Type="http://schemas.openxmlformats.org/officeDocument/2006/relationships/image" Target="../media/image19.png"/><Relationship Id="rId4" Type="http://schemas.openxmlformats.org/officeDocument/2006/relationships/image" Target="../media/image-10-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036737"/>
            <a:ext cx="4202603" cy="310952"/>
          </a:xfrm>
          <a:prstGeom prst="roundRect">
            <a:avLst>
              <a:gd name="adj" fmla="val 38296"/>
            </a:avLst>
          </a:prstGeom>
          <a:solidFill>
            <a:srgbClr val="DDEEE0"/>
          </a:solidFill>
          <a:ln/>
        </p:spPr>
      </p:sp>
      <p:sp>
        <p:nvSpPr>
          <p:cNvPr id="4" name="Text 1"/>
          <p:cNvSpPr/>
          <p:nvPr/>
        </p:nvSpPr>
        <p:spPr>
          <a:xfrm>
            <a:off x="760691" y="1086346"/>
            <a:ext cx="4613755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INTELLIGENCE REPORTING &amp; DATA STORYTELLING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1413768"/>
            <a:ext cx="6296860" cy="310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Software Bug Analytics Report</a:t>
            </a:r>
            <a:endParaRPr lang="en-US" sz="6500" dirty="0"/>
          </a:p>
        </p:txBody>
      </p:sp>
      <p:sp>
        <p:nvSpPr>
          <p:cNvPr id="6" name="Text 3"/>
          <p:cNvSpPr/>
          <p:nvPr/>
        </p:nvSpPr>
        <p:spPr>
          <a:xfrm>
            <a:off x="661475" y="4762798"/>
            <a:ext cx="629686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Prepared By: </a:t>
            </a:r>
            <a:r>
              <a:rPr lang="en-US" sz="13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FaaiQ Sheikh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Internship: Codiora Software House – Data Analyst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Project: Software Bug Analytics Dashboard using Microsoft Power BI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Submission Date: July 2026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0589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532856"/>
            <a:ext cx="1514933" cy="278904"/>
          </a:xfrm>
          <a:prstGeom prst="roundRect">
            <a:avLst>
              <a:gd name="adj" fmla="val 39361"/>
            </a:avLst>
          </a:prstGeom>
          <a:solidFill>
            <a:srgbClr val="DDEEE0"/>
          </a:solidFill>
          <a:ln/>
        </p:spPr>
      </p:sp>
      <p:sp>
        <p:nvSpPr>
          <p:cNvPr id="4" name="Text 1"/>
          <p:cNvSpPr/>
          <p:nvPr/>
        </p:nvSpPr>
        <p:spPr>
          <a:xfrm>
            <a:off x="752952" y="2578596"/>
            <a:ext cx="1941563" cy="18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EXECUTIVE SUMMARY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2867918"/>
            <a:ext cx="10502935" cy="476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Transforming Raw Bug Data into Business Insights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61475" y="3555206"/>
            <a:ext cx="10868745" cy="70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report presents a comprehensive Business Intelligence analysis of a software bug dataset containing </a:t>
            </a:r>
            <a:r>
              <a:rPr lang="en-US" sz="12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50,000 software bug records</a:t>
            </a: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The objective was to transform raw bug tracking data into meaningful insights using Microsoft Power BI — covering data cleaning, transformation, visualization, and storytelling.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61475" y="4416623"/>
            <a:ext cx="3529222" cy="18143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11739" y="4521398"/>
            <a:ext cx="228693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32921" y="5033566"/>
            <a:ext cx="1905845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Audience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2921" y="5356126"/>
            <a:ext cx="3186330" cy="70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Project managers, software engineers, and business stakeholders monitoring bug trends and software quality.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331187" y="4416623"/>
            <a:ext cx="3529222" cy="18143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81451" y="4521398"/>
            <a:ext cx="228693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4502633" y="5033566"/>
            <a:ext cx="1905845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Scope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502633" y="5356126"/>
            <a:ext cx="3186330" cy="70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Analysis spans technologies, environments, bug domains, developer roles, and severity levels across the dataset.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000899" y="4416623"/>
            <a:ext cx="3529321" cy="181431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51163" y="4521398"/>
            <a:ext cx="228693" cy="2858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8172345" y="5033566"/>
            <a:ext cx="1905845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Business Value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8172345" y="5356126"/>
            <a:ext cx="3186430" cy="70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Enables informed decisions to improve software reliability, reduce maintenance costs, and enhance customer satisfaction.</a:t>
            </a:r>
            <a:endParaRPr lang="en-US" sz="1200" dirty="0"/>
          </a:p>
        </p:txBody>
      </p:sp>
      <p:sp>
        <p:nvSpPr>
          <p:cNvPr id="25" name="Right Arrow 24"/>
          <p:cNvSpPr/>
          <p:nvPr/>
        </p:nvSpPr>
        <p:spPr>
          <a:xfrm>
            <a:off x="11164715" y="6571488"/>
            <a:ext cx="1027285" cy="21336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89049"/>
            <a:ext cx="646394" cy="209054"/>
          </a:xfrm>
          <a:prstGeom prst="roundRect">
            <a:avLst>
              <a:gd name="adj" fmla="val 42054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34696" y="525661"/>
            <a:ext cx="1109536" cy="13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SECTION 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734120"/>
            <a:ext cx="3662172" cy="38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250851"/>
            <a:ext cx="10868745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dataset consists of </a:t>
            </a:r>
            <a:r>
              <a:rPr lang="en-US" sz="9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50,000 software bug reports</a:t>
            </a: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collected from various software development activities. Each record represents a unique software issue along with its technical and operational details.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1475" y="1781870"/>
            <a:ext cx="2135829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Dataset Summary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52308" y="2134989"/>
            <a:ext cx="3545295" cy="402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50K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2261833" y="2666504"/>
            <a:ext cx="1526244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Total Records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52308" y="3098502"/>
            <a:ext cx="3545295" cy="402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20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2261833" y="3630017"/>
            <a:ext cx="1526244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Final Columns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1475" y="3910806"/>
            <a:ext cx="4727060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After feature engineering (originally 14)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52308" y="4321870"/>
            <a:ext cx="3545295" cy="402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6,188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2261833" y="4853384"/>
            <a:ext cx="1526244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475" y="5134173"/>
            <a:ext cx="4727060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Error Code column only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52308" y="5545237"/>
            <a:ext cx="3545295" cy="402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22.3MB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2261833" y="6076752"/>
            <a:ext cx="1526244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Memory Usage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92732" y="1781870"/>
            <a:ext cx="3479911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Dataset Features &amp; Engineered Fields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92732" y="2073970"/>
            <a:ext cx="2876776" cy="1203920"/>
          </a:xfrm>
          <a:prstGeom prst="roundRect">
            <a:avLst>
              <a:gd name="adj" fmla="val 9128"/>
            </a:avLst>
          </a:prstGeom>
          <a:solidFill>
            <a:srgbClr val="E8F3E8"/>
          </a:solidFill>
          <a:ln/>
        </p:spPr>
      </p:sp>
      <p:sp>
        <p:nvSpPr>
          <p:cNvPr id="19" name="Text 17"/>
          <p:cNvSpPr/>
          <p:nvPr/>
        </p:nvSpPr>
        <p:spPr>
          <a:xfrm>
            <a:off x="5814768" y="2196009"/>
            <a:ext cx="1526244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Core Fields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14768" y="2476798"/>
            <a:ext cx="2632704" cy="679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Bug ID, Title, Description, Error Code, Category, Domain, Technology Stack, Severity Level, Environment, Developer Role, Root Cause, Suggested Fix, Created Date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659596" y="2073970"/>
            <a:ext cx="2876875" cy="1203920"/>
          </a:xfrm>
          <a:prstGeom prst="roundRect">
            <a:avLst>
              <a:gd name="adj" fmla="val 9128"/>
            </a:avLst>
          </a:prstGeom>
          <a:solidFill>
            <a:srgbClr val="E8F3E8"/>
          </a:solidFill>
          <a:ln/>
        </p:spPr>
      </p:sp>
      <p:sp>
        <p:nvSpPr>
          <p:cNvPr id="22" name="Text 20"/>
          <p:cNvSpPr/>
          <p:nvPr/>
        </p:nvSpPr>
        <p:spPr>
          <a:xfrm>
            <a:off x="8781632" y="2196009"/>
            <a:ext cx="1526244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Calculated Fields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81632" y="2476798"/>
            <a:ext cx="2632803" cy="50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Year, Month, Quarter, Day, High Severity Indicator, Error Code Availability — enabling detailed multi-dimensional analysis</a:t>
            </a:r>
            <a:endParaRPr lang="en-US" sz="950" dirty="0"/>
          </a:p>
        </p:txBody>
      </p:sp>
      <p:sp>
        <p:nvSpPr>
          <p:cNvPr id="24" name="Right Arrow 23"/>
          <p:cNvSpPr/>
          <p:nvPr/>
        </p:nvSpPr>
        <p:spPr>
          <a:xfrm>
            <a:off x="11164715" y="6571488"/>
            <a:ext cx="1027285" cy="21336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512961"/>
            <a:ext cx="687370" cy="225524"/>
          </a:xfrm>
          <a:prstGeom prst="roundRect">
            <a:avLst>
              <a:gd name="adj" fmla="val 41375"/>
            </a:avLst>
          </a:prstGeom>
          <a:solidFill>
            <a:srgbClr val="DDEEE0"/>
          </a:solidFill>
          <a:ln/>
        </p:spPr>
      </p:sp>
      <p:sp>
        <p:nvSpPr>
          <p:cNvPr id="4" name="Text 1"/>
          <p:cNvSpPr/>
          <p:nvPr/>
        </p:nvSpPr>
        <p:spPr>
          <a:xfrm>
            <a:off x="5311047" y="551755"/>
            <a:ext cx="1141582" cy="14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SECTION 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233360" y="779066"/>
            <a:ext cx="4288028" cy="405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 Cleaning Process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5233360" y="1336377"/>
            <a:ext cx="6296860" cy="554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Before creating the dashboard, several preprocessing techniques were applied to ensure data quality and consistency. After cleaning, the dataset contained </a:t>
            </a: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no missing values, no duplicate records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and was fully prepared for Business Intelligence reporting.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330493" y="2005112"/>
            <a:ext cx="19050" cy="4339927"/>
          </a:xfrm>
          <a:prstGeom prst="roundRect">
            <a:avLst>
              <a:gd name="adj" fmla="val 612281"/>
            </a:avLst>
          </a:prstGeom>
          <a:solidFill>
            <a:srgbClr val="CED9CE"/>
          </a:solidFill>
          <a:ln/>
        </p:spPr>
      </p:sp>
      <p:sp>
        <p:nvSpPr>
          <p:cNvPr id="8" name="Shape 5"/>
          <p:cNvSpPr/>
          <p:nvPr/>
        </p:nvSpPr>
        <p:spPr>
          <a:xfrm>
            <a:off x="5311444" y="2461915"/>
            <a:ext cx="388729" cy="19050"/>
          </a:xfrm>
          <a:prstGeom prst="roundRect">
            <a:avLst>
              <a:gd name="adj" fmla="val 612281"/>
            </a:avLst>
          </a:prstGeom>
          <a:solidFill>
            <a:srgbClr val="CED9CE"/>
          </a:solidFill>
          <a:ln/>
        </p:spPr>
      </p:sp>
      <p:sp>
        <p:nvSpPr>
          <p:cNvPr id="9" name="Shape 6"/>
          <p:cNvSpPr/>
          <p:nvPr/>
        </p:nvSpPr>
        <p:spPr>
          <a:xfrm>
            <a:off x="5281927" y="2422872"/>
            <a:ext cx="97133" cy="97135"/>
          </a:xfrm>
          <a:prstGeom prst="ellipse">
            <a:avLst/>
          </a:prstGeom>
          <a:solidFill>
            <a:srgbClr val="438951"/>
          </a:solidFill>
          <a:ln/>
        </p:spPr>
      </p:sp>
      <p:sp>
        <p:nvSpPr>
          <p:cNvPr id="10" name="Shape 7"/>
          <p:cNvSpPr/>
          <p:nvPr/>
        </p:nvSpPr>
        <p:spPr>
          <a:xfrm>
            <a:off x="5719322" y="2005112"/>
            <a:ext cx="5810898" cy="932656"/>
          </a:xfrm>
          <a:prstGeom prst="roundRect">
            <a:avLst>
              <a:gd name="adj" fmla="val 12506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5848898" y="2134691"/>
            <a:ext cx="242891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Handling Missing Values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848898" y="2438499"/>
            <a:ext cx="5551745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6,188 missing values found in the Error Code column were handled appropriately to ensure complete and reliable analysis.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311444" y="3597672"/>
            <a:ext cx="388729" cy="19050"/>
          </a:xfrm>
          <a:prstGeom prst="roundRect">
            <a:avLst>
              <a:gd name="adj" fmla="val 612281"/>
            </a:avLst>
          </a:prstGeom>
          <a:solidFill>
            <a:srgbClr val="CED9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281927" y="3558629"/>
            <a:ext cx="97133" cy="97135"/>
          </a:xfrm>
          <a:prstGeom prst="ellipse">
            <a:avLst/>
          </a:prstGeom>
          <a:solidFill>
            <a:srgbClr val="438951"/>
          </a:solidFill>
          <a:ln/>
        </p:spPr>
      </p:sp>
      <p:sp>
        <p:nvSpPr>
          <p:cNvPr id="15" name="Shape 12"/>
          <p:cNvSpPr/>
          <p:nvPr/>
        </p:nvSpPr>
        <p:spPr>
          <a:xfrm>
            <a:off x="5719322" y="3140869"/>
            <a:ext cx="5810898" cy="932656"/>
          </a:xfrm>
          <a:prstGeom prst="roundRect">
            <a:avLst>
              <a:gd name="adj" fmla="val 12506"/>
            </a:avLst>
          </a:prstGeom>
          <a:solidFill>
            <a:srgbClr val="E8F3E8"/>
          </a:solidFill>
          <a:ln/>
        </p:spPr>
      </p:sp>
      <p:sp>
        <p:nvSpPr>
          <p:cNvPr id="16" name="Text 13"/>
          <p:cNvSpPr/>
          <p:nvPr/>
        </p:nvSpPr>
        <p:spPr>
          <a:xfrm>
            <a:off x="5848898" y="3270448"/>
            <a:ext cx="194394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Duplicate Removal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848898" y="3574256"/>
            <a:ext cx="5551745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dataset was checked for duplicate records. No duplicate rows were found, confirming data integrity.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11444" y="4733429"/>
            <a:ext cx="388729" cy="19050"/>
          </a:xfrm>
          <a:prstGeom prst="roundRect">
            <a:avLst>
              <a:gd name="adj" fmla="val 612281"/>
            </a:avLst>
          </a:prstGeom>
          <a:solidFill>
            <a:srgbClr val="CED9CE"/>
          </a:solidFill>
          <a:ln/>
        </p:spPr>
      </p:sp>
      <p:sp>
        <p:nvSpPr>
          <p:cNvPr id="19" name="Shape 16"/>
          <p:cNvSpPr/>
          <p:nvPr/>
        </p:nvSpPr>
        <p:spPr>
          <a:xfrm>
            <a:off x="5281927" y="4694386"/>
            <a:ext cx="97133" cy="97135"/>
          </a:xfrm>
          <a:prstGeom prst="ellipse">
            <a:avLst/>
          </a:prstGeom>
          <a:solidFill>
            <a:srgbClr val="438951"/>
          </a:solidFill>
          <a:ln/>
        </p:spPr>
      </p:sp>
      <p:sp>
        <p:nvSpPr>
          <p:cNvPr id="20" name="Shape 17"/>
          <p:cNvSpPr/>
          <p:nvPr/>
        </p:nvSpPr>
        <p:spPr>
          <a:xfrm>
            <a:off x="5719322" y="4276626"/>
            <a:ext cx="5810898" cy="932656"/>
          </a:xfrm>
          <a:prstGeom prst="roundRect">
            <a:avLst>
              <a:gd name="adj" fmla="val 12506"/>
            </a:avLst>
          </a:prstGeom>
          <a:solidFill>
            <a:srgbClr val="E8F3E8"/>
          </a:solidFill>
          <a:ln/>
        </p:spPr>
      </p:sp>
      <p:sp>
        <p:nvSpPr>
          <p:cNvPr id="21" name="Text 18"/>
          <p:cNvSpPr/>
          <p:nvPr/>
        </p:nvSpPr>
        <p:spPr>
          <a:xfrm>
            <a:off x="5848898" y="4406205"/>
            <a:ext cx="400665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 Type Conversion &amp; Standardization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848898" y="4710013"/>
            <a:ext cx="5551745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Created Date column was converted to Date format for time-series analysis. Text formatting across categorical columns was standardized for consistency.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311444" y="5869186"/>
            <a:ext cx="388729" cy="19050"/>
          </a:xfrm>
          <a:prstGeom prst="roundRect">
            <a:avLst>
              <a:gd name="adj" fmla="val 612281"/>
            </a:avLst>
          </a:prstGeom>
          <a:solidFill>
            <a:srgbClr val="CED9CE"/>
          </a:solidFill>
          <a:ln/>
        </p:spPr>
      </p:sp>
      <p:sp>
        <p:nvSpPr>
          <p:cNvPr id="24" name="Shape 21"/>
          <p:cNvSpPr/>
          <p:nvPr/>
        </p:nvSpPr>
        <p:spPr>
          <a:xfrm>
            <a:off x="5281927" y="5830143"/>
            <a:ext cx="97133" cy="97135"/>
          </a:xfrm>
          <a:prstGeom prst="ellipse">
            <a:avLst/>
          </a:prstGeom>
          <a:solidFill>
            <a:srgbClr val="438951"/>
          </a:solidFill>
          <a:ln/>
        </p:spPr>
      </p:sp>
      <p:sp>
        <p:nvSpPr>
          <p:cNvPr id="25" name="Shape 22"/>
          <p:cNvSpPr/>
          <p:nvPr/>
        </p:nvSpPr>
        <p:spPr>
          <a:xfrm>
            <a:off x="5719322" y="5412383"/>
            <a:ext cx="5810898" cy="932656"/>
          </a:xfrm>
          <a:prstGeom prst="roundRect">
            <a:avLst>
              <a:gd name="adj" fmla="val 12506"/>
            </a:avLst>
          </a:prstGeom>
          <a:solidFill>
            <a:srgbClr val="E8F3E8"/>
          </a:solidFill>
          <a:ln/>
        </p:spPr>
      </p:sp>
      <p:sp>
        <p:nvSpPr>
          <p:cNvPr id="26" name="Text 23"/>
          <p:cNvSpPr/>
          <p:nvPr/>
        </p:nvSpPr>
        <p:spPr>
          <a:xfrm>
            <a:off x="5848898" y="5541963"/>
            <a:ext cx="200992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848898" y="5845770"/>
            <a:ext cx="5551745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Additional columns created: Year, Month, Quarter, Day, High Severity, Error Code Available — improving filtering and analytical capability.</a:t>
            </a:r>
            <a:endParaRPr lang="en-US" sz="1000" dirty="0"/>
          </a:p>
        </p:txBody>
      </p:sp>
      <p:sp>
        <p:nvSpPr>
          <p:cNvPr id="28" name="Right Arrow 27"/>
          <p:cNvSpPr/>
          <p:nvPr/>
        </p:nvSpPr>
        <p:spPr>
          <a:xfrm>
            <a:off x="11164715" y="6571488"/>
            <a:ext cx="1027285" cy="21336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4819"/>
            <a:ext cx="440619" cy="128984"/>
          </a:xfrm>
          <a:prstGeom prst="roundRect">
            <a:avLst>
              <a:gd name="adj" fmla="val 46161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11083" y="479623"/>
            <a:ext cx="950988" cy="79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SECTION 4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661475" y="600273"/>
            <a:ext cx="28020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Dashboard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920750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Software Bug Analytics Dashboard was developed using </a:t>
            </a:r>
            <a:r>
              <a:rPr lang="en-US" sz="6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Microsoft Power BI</a:t>
            </a: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provide an interactive and user-friendly view of software quality metrics. Users can filter data dynamically by severity, environment, technology stack, and other dimensions.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661475" y="1066304"/>
            <a:ext cx="10868745" cy="434777"/>
          </a:xfrm>
          <a:prstGeom prst="roundRect">
            <a:avLst>
              <a:gd name="adj" fmla="val 17118"/>
            </a:avLst>
          </a:prstGeom>
          <a:solidFill>
            <a:srgbClr val="E8F3E8"/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1066304"/>
            <a:ext cx="3622882" cy="434777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8" name="Text 6"/>
          <p:cNvSpPr/>
          <p:nvPr/>
        </p:nvSpPr>
        <p:spPr>
          <a:xfrm>
            <a:off x="702749" y="1107579"/>
            <a:ext cx="103363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KPI Cards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02749" y="1261566"/>
            <a:ext cx="3478324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 Severity Bugs: </a:t>
            </a:r>
            <a:r>
              <a:rPr lang="en-US" sz="6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794</a:t>
            </a: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· Critical Bugs: </a:t>
            </a:r>
            <a:r>
              <a:rPr lang="en-US" sz="6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778</a:t>
            </a: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· Total Developers: </a:t>
            </a:r>
            <a:r>
              <a:rPr lang="en-US" sz="6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9</a:t>
            </a: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· Total Technologies: </a:t>
            </a:r>
            <a:r>
              <a:rPr lang="en-US" sz="6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16</a:t>
            </a: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· Avg Error Code: </a:t>
            </a:r>
            <a:r>
              <a:rPr lang="en-US" sz="6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441.04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4284357" y="1066304"/>
            <a:ext cx="3622882" cy="434777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11" name="Shape 9"/>
          <p:cNvSpPr/>
          <p:nvPr/>
        </p:nvSpPr>
        <p:spPr>
          <a:xfrm>
            <a:off x="4284357" y="1066304"/>
            <a:ext cx="12700" cy="434777"/>
          </a:xfrm>
          <a:prstGeom prst="roundRect">
            <a:avLst>
              <a:gd name="adj" fmla="val 586032"/>
            </a:avLst>
          </a:prstGeom>
          <a:solidFill>
            <a:srgbClr val="CED9CE"/>
          </a:solidFill>
          <a:ln/>
        </p:spPr>
      </p:sp>
      <p:sp>
        <p:nvSpPr>
          <p:cNvPr id="12" name="Text 10"/>
          <p:cNvSpPr/>
          <p:nvPr/>
        </p:nvSpPr>
        <p:spPr>
          <a:xfrm>
            <a:off x="4387641" y="1107579"/>
            <a:ext cx="103363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Charts &amp; Visuals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87641" y="1261566"/>
            <a:ext cx="3416314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Monthly Bug Trend Line Chart, Severity Donut Chart, Environment Pie Chart, Technology Stack Bar Chart, Bug Domain Column Chart, Bug Category Treemap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181073" y="1180356"/>
            <a:ext cx="206667" cy="206673"/>
          </a:xfrm>
          <a:prstGeom prst="roundRect">
            <a:avLst>
              <a:gd name="adj" fmla="val 36013"/>
            </a:avLst>
          </a:prstGeom>
          <a:solidFill>
            <a:srgbClr val="FAFFFA"/>
          </a:solidFill>
          <a:ln w="12700">
            <a:solidFill>
              <a:srgbClr val="CED9CE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232764" y="1231950"/>
            <a:ext cx="103284" cy="103287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907239" y="1066304"/>
            <a:ext cx="3622882" cy="434777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17" name="Shape 14"/>
          <p:cNvSpPr/>
          <p:nvPr/>
        </p:nvSpPr>
        <p:spPr>
          <a:xfrm>
            <a:off x="7907239" y="1066304"/>
            <a:ext cx="12700" cy="434777"/>
          </a:xfrm>
          <a:prstGeom prst="roundRect">
            <a:avLst>
              <a:gd name="adj" fmla="val 586032"/>
            </a:avLst>
          </a:prstGeom>
          <a:solidFill>
            <a:srgbClr val="CED9CE"/>
          </a:solidFill>
          <a:ln/>
        </p:spPr>
      </p:sp>
      <p:sp>
        <p:nvSpPr>
          <p:cNvPr id="18" name="Text 15"/>
          <p:cNvSpPr/>
          <p:nvPr/>
        </p:nvSpPr>
        <p:spPr>
          <a:xfrm>
            <a:off x="8010523" y="1107579"/>
            <a:ext cx="103363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Interactive Slicers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010523" y="1261566"/>
            <a:ext cx="3478324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Developer Role Analysis and dynamic slicers enabling data-driven decision-making across all business dimensions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7803955" y="1180356"/>
            <a:ext cx="206667" cy="206673"/>
          </a:xfrm>
          <a:prstGeom prst="roundRect">
            <a:avLst>
              <a:gd name="adj" fmla="val 36013"/>
            </a:avLst>
          </a:prstGeom>
          <a:solidFill>
            <a:srgbClr val="FAFFFA"/>
          </a:solidFill>
          <a:ln w="12700">
            <a:solidFill>
              <a:srgbClr val="CED9CE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855646" y="1231950"/>
            <a:ext cx="103284" cy="103287"/>
          </a:xfrm>
          <a:prstGeom prst="rect">
            <a:avLst/>
          </a:prstGeom>
        </p:spPr>
      </p:pic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2092" y="1547515"/>
            <a:ext cx="8847412" cy="553333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891183" y="4048210"/>
            <a:ext cx="1824061" cy="61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Dynamic Slicers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5183358" y="6540415"/>
            <a:ext cx="1824061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Bug Treemap</a:t>
            </a:r>
            <a:endParaRPr lang="en-US" sz="1900" dirty="0"/>
          </a:p>
        </p:txBody>
      </p:sp>
      <p:sp>
        <p:nvSpPr>
          <p:cNvPr id="25" name="Text 20"/>
          <p:cNvSpPr/>
          <p:nvPr/>
        </p:nvSpPr>
        <p:spPr>
          <a:xfrm>
            <a:off x="8476042" y="4047022"/>
            <a:ext cx="1824061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Interactive Charts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5183358" y="1782045"/>
            <a:ext cx="1824061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KPI Cards</a:t>
            </a:r>
            <a:endParaRPr lang="en-US" sz="1900" dirty="0"/>
          </a:p>
        </p:txBody>
      </p:sp>
      <p:sp>
        <p:nvSpPr>
          <p:cNvPr id="27" name="Right Arrow 26"/>
          <p:cNvSpPr/>
          <p:nvPr/>
        </p:nvSpPr>
        <p:spPr>
          <a:xfrm>
            <a:off x="11164715" y="6571488"/>
            <a:ext cx="1027285" cy="21336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495995"/>
            <a:ext cx="1034528" cy="253603"/>
          </a:xfrm>
          <a:prstGeom prst="roundRect">
            <a:avLst>
              <a:gd name="adj" fmla="val 40279"/>
            </a:avLst>
          </a:prstGeom>
          <a:solidFill>
            <a:srgbClr val="DDEEE0"/>
          </a:solidFill>
          <a:ln/>
        </p:spPr>
      </p:sp>
      <p:sp>
        <p:nvSpPr>
          <p:cNvPr id="4" name="Text 1"/>
          <p:cNvSpPr/>
          <p:nvPr/>
        </p:nvSpPr>
        <p:spPr>
          <a:xfrm>
            <a:off x="746503" y="538460"/>
            <a:ext cx="1474056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SECTIONS 5 &amp; 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798215"/>
            <a:ext cx="6082156" cy="443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Trend &amp; Comparative Analysis</a:t>
            </a:r>
            <a:endParaRPr lang="en-US" sz="2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61475" y="1423988"/>
            <a:ext cx="6296860" cy="12486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7824" y="1915319"/>
            <a:ext cx="212720" cy="266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369581" y="1584821"/>
            <a:ext cx="1773392" cy="221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Monthly Bug Trend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369581" y="1879302"/>
            <a:ext cx="5427924" cy="63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Bug reports remain relatively stable throughout the year. </a:t>
            </a: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October and November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record the highest bug counts during intensive testing cycles; </a:t>
            </a: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February and March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show the lowest activity.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61475" y="2794298"/>
            <a:ext cx="6296860" cy="12486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7824" y="3285629"/>
            <a:ext cx="212720" cy="266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369581" y="2955131"/>
            <a:ext cx="1901777" cy="221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Severity Distribution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369581" y="3249613"/>
            <a:ext cx="5427924" cy="63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Medium severity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bugs are the most common; </a:t>
            </a: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Critical severity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is the smallest proportion — but carries the highest business impact and demands immediate resolution.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61475" y="4164608"/>
            <a:ext cx="6296860" cy="10378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57824" y="4550470"/>
            <a:ext cx="212720" cy="266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1369581" y="4325441"/>
            <a:ext cx="2349640" cy="221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Environment Distribution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369581" y="4619923"/>
            <a:ext cx="5427924" cy="42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</a:t>
            </a: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Development Environment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generates the highest bug count, indicating effective early-stage testing. </a:t>
            </a: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Production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records comparatively fewer defects.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61475" y="5324078"/>
            <a:ext cx="6296860" cy="10378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57824" y="5709940"/>
            <a:ext cx="212720" cy="266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4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1369581" y="5484912"/>
            <a:ext cx="1773392" cy="221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Technology Stack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369581" y="5779393"/>
            <a:ext cx="5427924" cy="42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Angular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records the highest bug volume, suggesting a need for stronger frontend QA. </a:t>
            </a: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Azure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records the lowest bug count among all technologies.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6803"/>
            <a:ext cx="1002878" cy="242689"/>
          </a:xfrm>
          <a:prstGeom prst="roundRect">
            <a:avLst>
              <a:gd name="adj" fmla="val 40711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43725" y="497880"/>
            <a:ext cx="1447962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SECTIONS 7 &amp; 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45034"/>
            <a:ext cx="6476441" cy="42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Category &amp; Performance Analysis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1475" y="1458416"/>
            <a:ext cx="3777957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Bug Category Breakdown (Treemap)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1475" y="1800820"/>
            <a:ext cx="2576547" cy="1606748"/>
          </a:xfrm>
          <a:prstGeom prst="roundRect">
            <a:avLst>
              <a:gd name="adj" fmla="val 7686"/>
            </a:avLst>
          </a:prstGeom>
          <a:solidFill>
            <a:srgbClr val="E8F3E8"/>
          </a:solidFill>
          <a:ln/>
        </p:spPr>
      </p:sp>
      <p:sp>
        <p:nvSpPr>
          <p:cNvPr id="7" name="Text 5"/>
          <p:cNvSpPr/>
          <p:nvPr/>
        </p:nvSpPr>
        <p:spPr>
          <a:xfrm>
            <a:off x="798691" y="1938040"/>
            <a:ext cx="1715251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Largest Categories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8691" y="2266255"/>
            <a:ext cx="2302115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Memory Leak</a:t>
            </a: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0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API Bug</a:t>
            </a: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and </a:t>
            </a:r>
            <a:r>
              <a:rPr lang="en-US" sz="10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UI Bug</a:t>
            </a: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occurring most frequently, demanding performance optimization and API validation focus.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1823" y="1800820"/>
            <a:ext cx="2576646" cy="1606748"/>
          </a:xfrm>
          <a:prstGeom prst="roundRect">
            <a:avLst>
              <a:gd name="adj" fmla="val 7686"/>
            </a:avLst>
          </a:prstGeom>
          <a:solidFill>
            <a:srgbClr val="E8F3E8"/>
          </a:solidFill>
          <a:ln/>
        </p:spPr>
      </p:sp>
      <p:sp>
        <p:nvSpPr>
          <p:cNvPr id="10" name="Text 8"/>
          <p:cNvSpPr/>
          <p:nvPr/>
        </p:nvSpPr>
        <p:spPr>
          <a:xfrm>
            <a:off x="3489039" y="1938040"/>
            <a:ext cx="1722791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Smallest Categories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89039" y="2266255"/>
            <a:ext cx="2302214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Authentication Bug</a:t>
            </a: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0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CI/CD Bug</a:t>
            </a: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and </a:t>
            </a:r>
            <a:r>
              <a:rPr lang="en-US" sz="10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Monitoring Bug</a:t>
            </a: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less frequent but critical infrastructure concerns.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1475" y="3535561"/>
            <a:ext cx="2466120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Bug Domain Analysis</a:t>
            </a:r>
            <a:endParaRPr lang="en-US" sz="13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42425" y="3858915"/>
            <a:ext cx="5286044" cy="76795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6790" y="3877965"/>
            <a:ext cx="2428120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Backend Systems — Highest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36790" y="4206180"/>
            <a:ext cx="5091680" cy="401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Largest share of all defects, reflecting complexity of business logic, database operations, and API communication.</a:t>
            </a:r>
            <a:endParaRPr lang="en-US" sz="10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42425" y="4816475"/>
            <a:ext cx="5286044" cy="56713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36790" y="4835525"/>
            <a:ext cx="2421472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Web Development — Lowest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836790" y="5163741"/>
            <a:ext cx="5091680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Comparatively fewer defects reported in the web development domain.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269575" y="1458416"/>
            <a:ext cx="3117871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Developer Role Performance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269575" y="1786632"/>
            <a:ext cx="5266995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Backend Developers</a:t>
            </a: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receive the highest number of bug assignments, reflecting significant server-side maintenance responsibilities across APIs, databases, and business logic.</a:t>
            </a:r>
            <a:endParaRPr lang="en-US" sz="10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269575" y="2517080"/>
            <a:ext cx="5266995" cy="80347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6791" y="2654300"/>
            <a:ext cx="1715251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Backend Dev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406791" y="2982516"/>
            <a:ext cx="4992563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Highest bug assignment load — APIs, DBs, server-side logic.</a:t>
            </a:r>
            <a:endParaRPr lang="en-US" sz="10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269575" y="3434358"/>
            <a:ext cx="5266995" cy="10042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06791" y="3571577"/>
            <a:ext cx="1715251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Frontend Dev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6406791" y="3899793"/>
            <a:ext cx="4992563" cy="401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Angular-heavy workload driving significant UI Bug and Memory Leak issues.</a:t>
            </a:r>
            <a:endParaRPr lang="en-US" sz="105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6269575" y="4552454"/>
            <a:ext cx="5266995" cy="80347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06791" y="4689673"/>
            <a:ext cx="1715251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DevOps / Others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6406791" y="5017889"/>
            <a:ext cx="4992563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Smaller share; CI/CD and Monitoring Bug categories.</a:t>
            </a:r>
            <a:endParaRPr lang="en-US" sz="105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269575" y="5469731"/>
            <a:ext cx="5266995" cy="80347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406791" y="5606951"/>
            <a:ext cx="1715251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Total: 9 Devs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6406791" y="5935166"/>
            <a:ext cx="4992563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Across 16 technologies and multiple domains.</a:t>
            </a:r>
            <a:endParaRPr lang="en-US" sz="1050" dirty="0"/>
          </a:p>
        </p:txBody>
      </p:sp>
      <p:sp>
        <p:nvSpPr>
          <p:cNvPr id="33" name="Right Arrow 32"/>
          <p:cNvSpPr/>
          <p:nvPr/>
        </p:nvSpPr>
        <p:spPr>
          <a:xfrm>
            <a:off x="11164715" y="6571488"/>
            <a:ext cx="1027285" cy="21336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497284"/>
            <a:ext cx="771406" cy="259259"/>
          </a:xfrm>
          <a:prstGeom prst="roundRect">
            <a:avLst>
              <a:gd name="adj" fmla="val 40047"/>
            </a:avLst>
          </a:prstGeom>
          <a:solidFill>
            <a:srgbClr val="DDEEE0"/>
          </a:solidFill>
          <a:ln/>
        </p:spPr>
      </p:sp>
      <p:sp>
        <p:nvSpPr>
          <p:cNvPr id="4" name="Text 1"/>
          <p:cNvSpPr/>
          <p:nvPr/>
        </p:nvSpPr>
        <p:spPr>
          <a:xfrm>
            <a:off x="5319877" y="540544"/>
            <a:ext cx="120795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SECTION 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233360" y="806748"/>
            <a:ext cx="5016176" cy="450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Dashboard Insights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233360" y="1445816"/>
            <a:ext cx="324437" cy="324445"/>
          </a:xfrm>
          <a:prstGeom prst="roundRect">
            <a:avLst>
              <a:gd name="adj" fmla="val 40002"/>
            </a:avLst>
          </a:prstGeom>
          <a:solidFill>
            <a:srgbClr val="E8F3E8"/>
          </a:solidFill>
          <a:ln/>
        </p:spPr>
      </p:sp>
      <p:sp>
        <p:nvSpPr>
          <p:cNvPr id="7" name="Text 4"/>
          <p:cNvSpPr/>
          <p:nvPr/>
        </p:nvSpPr>
        <p:spPr>
          <a:xfrm>
            <a:off x="5287433" y="1472853"/>
            <a:ext cx="216291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683505" y="1495326"/>
            <a:ext cx="3837586" cy="225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Stable Bug Reporting with Seasonal Peaks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83505" y="1796058"/>
            <a:ext cx="5846715" cy="431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Bug volume remains consistent year-round, with peaks in October–November tied to intensive testing and release cycles.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33360" y="2479080"/>
            <a:ext cx="324437" cy="324445"/>
          </a:xfrm>
          <a:prstGeom prst="roundRect">
            <a:avLst>
              <a:gd name="adj" fmla="val 40002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5287433" y="2506117"/>
            <a:ext cx="216291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683505" y="2528590"/>
            <a:ext cx="3088404" cy="225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Medium &amp; Low Severity Dominate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683505" y="2829322"/>
            <a:ext cx="5846715" cy="431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These categories represent the majority of issues — routine maintenance — while Critical bugs (778) require urgent escalation pathways.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233360" y="3512344"/>
            <a:ext cx="324437" cy="324445"/>
          </a:xfrm>
          <a:prstGeom prst="roundRect">
            <a:avLst>
              <a:gd name="adj" fmla="val 40002"/>
            </a:avLst>
          </a:prstGeom>
          <a:solidFill>
            <a:srgbClr val="E8F3E8"/>
          </a:solidFill>
          <a:ln/>
        </p:spPr>
      </p:sp>
      <p:sp>
        <p:nvSpPr>
          <p:cNvPr id="15" name="Text 12"/>
          <p:cNvSpPr/>
          <p:nvPr/>
        </p:nvSpPr>
        <p:spPr>
          <a:xfrm>
            <a:off x="5287433" y="3539381"/>
            <a:ext cx="216291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683505" y="3561854"/>
            <a:ext cx="3766250" cy="225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Development Environment is Most Active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683505" y="3862586"/>
            <a:ext cx="5846715" cy="431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highest defect concentration in Development confirms effective pre-deployment quality assurance practices.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233360" y="4545608"/>
            <a:ext cx="324437" cy="324445"/>
          </a:xfrm>
          <a:prstGeom prst="roundRect">
            <a:avLst>
              <a:gd name="adj" fmla="val 40002"/>
            </a:avLst>
          </a:prstGeom>
          <a:solidFill>
            <a:srgbClr val="E8F3E8"/>
          </a:solidFill>
          <a:ln/>
        </p:spPr>
      </p:sp>
      <p:sp>
        <p:nvSpPr>
          <p:cNvPr id="19" name="Text 16"/>
          <p:cNvSpPr/>
          <p:nvPr/>
        </p:nvSpPr>
        <p:spPr>
          <a:xfrm>
            <a:off x="5287433" y="4572645"/>
            <a:ext cx="216291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683505" y="4595118"/>
            <a:ext cx="3950593" cy="225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Angular &amp; Backend Are Highest-Risk Areas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683505" y="4895850"/>
            <a:ext cx="5846715" cy="431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Angular leads in technology-level defects; Backend Systems lead in domain-level defects — both require targeted quality investment.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233360" y="5578872"/>
            <a:ext cx="324437" cy="324445"/>
          </a:xfrm>
          <a:prstGeom prst="roundRect">
            <a:avLst>
              <a:gd name="adj" fmla="val 40002"/>
            </a:avLst>
          </a:prstGeom>
          <a:solidFill>
            <a:srgbClr val="E8F3E8"/>
          </a:solidFill>
          <a:ln/>
        </p:spPr>
      </p:sp>
      <p:sp>
        <p:nvSpPr>
          <p:cNvPr id="23" name="Text 20"/>
          <p:cNvSpPr/>
          <p:nvPr/>
        </p:nvSpPr>
        <p:spPr>
          <a:xfrm>
            <a:off x="5287433" y="5605909"/>
            <a:ext cx="216291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5683505" y="5628382"/>
            <a:ext cx="4049413" cy="225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Memory Leak &amp; API Bugs Are Most Frequent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683505" y="5929114"/>
            <a:ext cx="5846715" cy="431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These recurring categories signal systemic issues in performance management and API validation practices.</a:t>
            </a:r>
            <a:endParaRPr lang="en-US" sz="1100" dirty="0"/>
          </a:p>
        </p:txBody>
      </p:sp>
      <p:sp>
        <p:nvSpPr>
          <p:cNvPr id="26" name="Right Arrow 25"/>
          <p:cNvSpPr/>
          <p:nvPr/>
        </p:nvSpPr>
        <p:spPr>
          <a:xfrm>
            <a:off x="11164715" y="6571488"/>
            <a:ext cx="1027285" cy="21336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481112"/>
            <a:ext cx="793135" cy="248146"/>
          </a:xfrm>
          <a:prstGeom prst="roundRect">
            <a:avLst>
              <a:gd name="adj" fmla="val 40490"/>
            </a:avLst>
          </a:prstGeom>
          <a:solidFill>
            <a:srgbClr val="DDEEE0"/>
          </a:solidFill>
          <a:ln/>
        </p:spPr>
      </p:sp>
      <p:sp>
        <p:nvSpPr>
          <p:cNvPr id="4" name="Text 1"/>
          <p:cNvSpPr/>
          <p:nvPr/>
        </p:nvSpPr>
        <p:spPr>
          <a:xfrm>
            <a:off x="745114" y="522883"/>
            <a:ext cx="1235441" cy="16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SECTION 10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776288"/>
            <a:ext cx="559480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Business Recommendations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61475" y="1388963"/>
            <a:ext cx="6296860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Based on the dashboard analysis, the following strategic recommendations are proposed to improve software quality and development efficiency: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13762" y="1937445"/>
            <a:ext cx="209247" cy="2092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4893" y="1933178"/>
            <a:ext cx="293709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Strengthen Angular Frontend QA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14893" y="2221805"/>
            <a:ext cx="584344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Increase automated testing for Angular applications and enforce stricter frontend code review procedures to reduce defect volume.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13762" y="2873276"/>
            <a:ext cx="209247" cy="2092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14893" y="2869009"/>
            <a:ext cx="345768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Prioritize Critical &amp; High Severity Bugs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114893" y="3157637"/>
            <a:ext cx="584344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dedicated escalation processes and real-time executive dashboards for monitoring Critical software defects.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13762" y="3809107"/>
            <a:ext cx="209247" cy="20925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14893" y="3804841"/>
            <a:ext cx="388590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Expand Backend Code Review &amp; API Testing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1114893" y="4093468"/>
            <a:ext cx="584344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Strengthen backend review procedures and increase automated API testing to address the dominant Backend Systems defect share.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13762" y="4744938"/>
            <a:ext cx="209247" cy="20925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14893" y="4740672"/>
            <a:ext cx="309177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Implement Continuous Monitoring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1114893" y="5029299"/>
            <a:ext cx="584344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Deploy tools to detect Memory Leak issues earlier in the development cycle and run automated regression testing continuously.</a:t>
            </a:r>
            <a:endParaRPr lang="en-US" sz="10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713762" y="5680770"/>
            <a:ext cx="209247" cy="20925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14893" y="5676503"/>
            <a:ext cx="264818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Balance Developer Workloads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1114893" y="5965130"/>
            <a:ext cx="584344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Redistribute bug assignments across teams to improve productivity and reduce resolution time for Backend Developers.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8120"/>
            <a:ext cx="1072230" cy="248146"/>
          </a:xfrm>
          <a:prstGeom prst="roundRect">
            <a:avLst>
              <a:gd name="adj" fmla="val 40490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45114" y="559891"/>
            <a:ext cx="1514536" cy="16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SECTIONS 11 &amp; 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13296"/>
            <a:ext cx="5282869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Conclusion &amp; Future Work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1475" y="1425972"/>
            <a:ext cx="10868745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Software Bug Analytics Dashboard successfully transforms raw software bug data into meaningful business insights. The analysis demonstrates that defects are distributed across multiple technologies, environments, and domains — with </a:t>
            </a:r>
            <a:r>
              <a:rPr lang="en-US" sz="10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Backend Systems and Angular</a:t>
            </a: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contributing the largest share.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61475" y="2087860"/>
            <a:ext cx="2353906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1475" y="2438301"/>
            <a:ext cx="2573273" cy="2180332"/>
          </a:xfrm>
          <a:prstGeom prst="roundRect">
            <a:avLst>
              <a:gd name="adj" fmla="val 5760"/>
            </a:avLst>
          </a:prstGeom>
          <a:solidFill>
            <a:srgbClr val="E8F3E8"/>
          </a:solidFill>
          <a:ln/>
        </p:spPr>
      </p:sp>
      <p:sp>
        <p:nvSpPr>
          <p:cNvPr id="8" name="Shape 6"/>
          <p:cNvSpPr/>
          <p:nvPr/>
        </p:nvSpPr>
        <p:spPr>
          <a:xfrm>
            <a:off x="800973" y="2577802"/>
            <a:ext cx="418593" cy="418604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16064" y="2692896"/>
            <a:ext cx="188312" cy="18831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0973" y="3114080"/>
            <a:ext cx="174432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Quality Visibility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00973" y="3449737"/>
            <a:ext cx="2294277" cy="823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Enables teams to identify trends, prioritize high-risk defects, and allocate development resources effectively.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52418" y="2438301"/>
            <a:ext cx="2573273" cy="2180332"/>
          </a:xfrm>
          <a:prstGeom prst="roundRect">
            <a:avLst>
              <a:gd name="adj" fmla="val 5760"/>
            </a:avLst>
          </a:prstGeom>
          <a:solidFill>
            <a:srgbClr val="E8F3E8"/>
          </a:solidFill>
          <a:ln/>
        </p:spPr>
      </p:sp>
      <p:sp>
        <p:nvSpPr>
          <p:cNvPr id="13" name="Shape 10"/>
          <p:cNvSpPr/>
          <p:nvPr/>
        </p:nvSpPr>
        <p:spPr>
          <a:xfrm>
            <a:off x="3491917" y="2577802"/>
            <a:ext cx="418593" cy="418604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607007" y="2692896"/>
            <a:ext cx="188312" cy="18831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91917" y="3114080"/>
            <a:ext cx="174432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Risk Reduction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491917" y="3449737"/>
            <a:ext cx="2294277" cy="1029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Implementing these recommendations will strengthen the SDLC, reduce operational risks, and enhance product quality.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272353" y="2087860"/>
            <a:ext cx="255918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Future Improvements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272353" y="2438301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272353" y="2656384"/>
            <a:ext cx="5264217" cy="1905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0" name="Text 16"/>
          <p:cNvSpPr/>
          <p:nvPr/>
        </p:nvSpPr>
        <p:spPr>
          <a:xfrm>
            <a:off x="6272353" y="2764234"/>
            <a:ext cx="300357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Real-Time SQL Server Integration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6272353" y="3099891"/>
            <a:ext cx="5264217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Connect Power BI directly to SQL Server and integrate with Jira for live bug tracking sync.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272353" y="3733899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272353" y="3951982"/>
            <a:ext cx="5264217" cy="1905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4" name="Text 20"/>
          <p:cNvSpPr/>
          <p:nvPr/>
        </p:nvSpPr>
        <p:spPr>
          <a:xfrm>
            <a:off x="6272353" y="4059833"/>
            <a:ext cx="266852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Machine Learning Predictions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6272353" y="4395490"/>
            <a:ext cx="5264217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 ML models to predict future bug trends, and include MTTR and developer productivity KPIs.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272353" y="5029498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272353" y="5247580"/>
            <a:ext cx="5264217" cy="1905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8" name="Text 24"/>
          <p:cNvSpPr/>
          <p:nvPr/>
        </p:nvSpPr>
        <p:spPr>
          <a:xfrm>
            <a:off x="6272353" y="5355431"/>
            <a:ext cx="3603733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Automated Alerts &amp; Expanded Reporting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6272353" y="5691088"/>
            <a:ext cx="5264217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automated email alerts for High/Critical bugs and expand reporting with release management metrics.</a:t>
            </a:r>
            <a:endParaRPr lang="en-US" sz="1050" dirty="0"/>
          </a:p>
        </p:txBody>
      </p:sp>
      <p:sp>
        <p:nvSpPr>
          <p:cNvPr id="30" name="Right Arrow 29"/>
          <p:cNvSpPr/>
          <p:nvPr/>
        </p:nvSpPr>
        <p:spPr>
          <a:xfrm>
            <a:off x="11164715" y="6571488"/>
            <a:ext cx="1027285" cy="21336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1259</Words>
  <Application>Microsoft Office PowerPoint</Application>
  <PresentationFormat>Widescreen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Nobile</vt:lpstr>
      <vt:lpstr>Nobile Bold</vt:lpstr>
      <vt:lpstr>Fraunces ExtraBold</vt:lpstr>
      <vt:lpstr>Calibri</vt:lpstr>
      <vt:lpstr>Arial</vt:lpstr>
      <vt:lpstr>Fraunces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FaaIQ ShieKh</cp:lastModifiedBy>
  <cp:revision>3</cp:revision>
  <dcterms:created xsi:type="dcterms:W3CDTF">2026-07-06T10:13:32Z</dcterms:created>
  <dcterms:modified xsi:type="dcterms:W3CDTF">2026-07-06T10:25:10Z</dcterms:modified>
</cp:coreProperties>
</file>